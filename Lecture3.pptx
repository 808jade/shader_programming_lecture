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53"/>
  </p:notesMasterIdLst>
  <p:sldIdLst>
    <p:sldId id="256" r:id="rId2"/>
    <p:sldId id="260" r:id="rId3"/>
    <p:sldId id="285" r:id="rId4"/>
    <p:sldId id="293" r:id="rId5"/>
    <p:sldId id="294" r:id="rId6"/>
    <p:sldId id="296" r:id="rId7"/>
    <p:sldId id="295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2" r:id="rId22"/>
    <p:sldId id="313" r:id="rId23"/>
    <p:sldId id="316" r:id="rId24"/>
    <p:sldId id="317" r:id="rId25"/>
    <p:sldId id="321" r:id="rId26"/>
    <p:sldId id="318" r:id="rId27"/>
    <p:sldId id="319" r:id="rId28"/>
    <p:sldId id="320" r:id="rId29"/>
    <p:sldId id="333" r:id="rId30"/>
    <p:sldId id="323" r:id="rId31"/>
    <p:sldId id="322" r:id="rId32"/>
    <p:sldId id="324" r:id="rId33"/>
    <p:sldId id="325" r:id="rId34"/>
    <p:sldId id="330" r:id="rId35"/>
    <p:sldId id="331" r:id="rId36"/>
    <p:sldId id="332" r:id="rId37"/>
    <p:sldId id="326" r:id="rId38"/>
    <p:sldId id="327" r:id="rId39"/>
    <p:sldId id="328" r:id="rId40"/>
    <p:sldId id="329" r:id="rId41"/>
    <p:sldId id="339" r:id="rId42"/>
    <p:sldId id="341" r:id="rId43"/>
    <p:sldId id="334" r:id="rId44"/>
    <p:sldId id="340" r:id="rId45"/>
    <p:sldId id="335" r:id="rId46"/>
    <p:sldId id="337" r:id="rId47"/>
    <p:sldId id="336" r:id="rId48"/>
    <p:sldId id="342" r:id="rId49"/>
    <p:sldId id="343" r:id="rId50"/>
    <p:sldId id="344" r:id="rId51"/>
    <p:sldId id="345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094" autoAdjust="0"/>
    <p:restoredTop sz="94660"/>
  </p:normalViewPr>
  <p:slideViewPr>
    <p:cSldViewPr>
      <p:cViewPr varScale="1">
        <p:scale>
          <a:sx n="89" d="100"/>
          <a:sy n="89" d="100"/>
        </p:scale>
        <p:origin x="102" y="16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34835-998C-48F3-922B-834DDD525EE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22D599-627B-48A2-BB2C-C81EC15F96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945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034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107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386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715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9061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532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703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48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835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93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36340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33358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2763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611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381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8213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385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2025-11-04(Tue)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7793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6.xml"/><Relationship Id="rId4" Type="http://schemas.openxmlformats.org/officeDocument/2006/relationships/audio" Target="../media/audio3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0068059-9097-4F05-BA38-CDD7DBF773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64A015-EDB3-4688-8B77-9255305411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551035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3794" y="643467"/>
            <a:ext cx="9600217" cy="3585834"/>
          </a:xfrm>
        </p:spPr>
        <p:txBody>
          <a:bodyPr>
            <a:normAutofit/>
          </a:bodyPr>
          <a:lstStyle/>
          <a:p>
            <a:pPr algn="l"/>
            <a:r>
              <a:rPr lang="ko-KR" altLang="en-US" sz="7200" dirty="0" err="1"/>
              <a:t>셰이더</a:t>
            </a:r>
            <a:r>
              <a:rPr lang="ko-KR" altLang="en-US" sz="7200" dirty="0"/>
              <a:t> 프로그래밍</a:t>
            </a:r>
            <a:br>
              <a:rPr lang="en-US" altLang="ko-KR" sz="7200" dirty="0"/>
            </a:br>
            <a:r>
              <a:rPr lang="en-US" altLang="ko-KR" sz="7200" dirty="0"/>
              <a:t>Lecture3</a:t>
            </a:r>
            <a:endParaRPr lang="ko-KR" altLang="en-US" sz="72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913794" y="4872767"/>
            <a:ext cx="9600217" cy="1424165"/>
          </a:xfrm>
        </p:spPr>
        <p:txBody>
          <a:bodyPr>
            <a:normAutofit/>
          </a:bodyPr>
          <a:lstStyle/>
          <a:p>
            <a:pPr algn="l"/>
            <a:r>
              <a:rPr lang="en-US" altLang="ko-KR" sz="3200"/>
              <a:t>2025</a:t>
            </a:r>
            <a:r>
              <a:rPr lang="ko-KR" altLang="en-US" sz="3200"/>
              <a:t>년 </a:t>
            </a:r>
            <a:r>
              <a:rPr lang="en-US" altLang="ko-KR" sz="3200"/>
              <a:t>2</a:t>
            </a:r>
            <a:r>
              <a:rPr lang="ko-KR" altLang="en-US" sz="3200"/>
              <a:t>학기</a:t>
            </a:r>
            <a:endParaRPr lang="en-US" altLang="ko-KR" sz="3200"/>
          </a:p>
          <a:p>
            <a:pPr algn="l"/>
            <a:r>
              <a:rPr lang="ko-KR" altLang="en-US" sz="3200"/>
              <a:t>담당교수 </a:t>
            </a:r>
            <a:r>
              <a:rPr lang="en-US" altLang="ko-KR" sz="3200"/>
              <a:t>: </a:t>
            </a:r>
            <a:r>
              <a:rPr lang="ko-KR" altLang="en-US" sz="3200"/>
              <a:t>게임공학과 이택희</a:t>
            </a:r>
          </a:p>
        </p:txBody>
      </p:sp>
    </p:spTree>
    <p:extLst>
      <p:ext uri="{BB962C8B-B14F-4D97-AF65-F5344CB8AC3E}">
        <p14:creationId xmlns:p14="http://schemas.microsoft.com/office/powerpoint/2010/main" val="3536912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수업에서 다룰 내용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Shader</a:t>
            </a:r>
            <a:r>
              <a:rPr lang="ko-KR" altLang="en-US" dirty="0"/>
              <a:t> 입출력 </a:t>
            </a:r>
            <a:endParaRPr lang="en-US" altLang="ko-KR" dirty="0"/>
          </a:p>
          <a:p>
            <a:r>
              <a:rPr lang="en-US" altLang="ko-KR" dirty="0"/>
              <a:t>Shader</a:t>
            </a:r>
            <a:r>
              <a:rPr lang="ko-KR" altLang="en-US" dirty="0"/>
              <a:t> 컴파일</a:t>
            </a:r>
            <a:endParaRPr lang="en-US" altLang="ko-KR" dirty="0"/>
          </a:p>
          <a:p>
            <a:r>
              <a:rPr lang="en-US" altLang="ko-KR" dirty="0"/>
              <a:t>Vertex</a:t>
            </a:r>
            <a:r>
              <a:rPr lang="ko-KR" altLang="en-US" dirty="0"/>
              <a:t> </a:t>
            </a:r>
            <a:r>
              <a:rPr lang="en-US" altLang="ko-KR" dirty="0"/>
              <a:t>Shader</a:t>
            </a:r>
            <a:r>
              <a:rPr lang="ko-KR" altLang="en-US" dirty="0"/>
              <a:t> 입력</a:t>
            </a:r>
            <a:endParaRPr lang="en-US" altLang="ko-KR" dirty="0"/>
          </a:p>
          <a:p>
            <a:r>
              <a:rPr lang="en-US" altLang="ko-KR" dirty="0"/>
              <a:t>Shader</a:t>
            </a:r>
            <a:r>
              <a:rPr lang="ko-KR" altLang="en-US" dirty="0"/>
              <a:t> 외부 입력</a:t>
            </a:r>
            <a:endParaRPr lang="en-US" altLang="ko-KR" dirty="0"/>
          </a:p>
          <a:p>
            <a:r>
              <a:rPr lang="ko-KR" altLang="en-US" dirty="0"/>
              <a:t>실습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50354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25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grpSp>
        <p:nvGrpSpPr>
          <p:cNvPr id="6" name="그룹 5"/>
          <p:cNvGrpSpPr/>
          <p:nvPr/>
        </p:nvGrpSpPr>
        <p:grpSpPr>
          <a:xfrm>
            <a:off x="1991544" y="3096394"/>
            <a:ext cx="8033202" cy="1224136"/>
            <a:chOff x="671042" y="4581128"/>
            <a:chExt cx="7790243" cy="1224136"/>
          </a:xfrm>
        </p:grpSpPr>
        <p:sp>
          <p:nvSpPr>
            <p:cNvPr id="7" name="모서리가 둥근 직사각형 6"/>
            <p:cNvSpPr/>
            <p:nvPr/>
          </p:nvSpPr>
          <p:spPr>
            <a:xfrm>
              <a:off x="671042" y="4581128"/>
              <a:ext cx="1368152" cy="122413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Vertex Shader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모서리가 둥근 직사각형 7"/>
            <p:cNvSpPr/>
            <p:nvPr/>
          </p:nvSpPr>
          <p:spPr>
            <a:xfrm>
              <a:off x="2200897" y="4581128"/>
              <a:ext cx="1368152" cy="1224136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Primitive Assembly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모서리가 둥근 직사각형 8"/>
            <p:cNvSpPr/>
            <p:nvPr/>
          </p:nvSpPr>
          <p:spPr>
            <a:xfrm>
              <a:off x="3723234" y="4581128"/>
              <a:ext cx="1700336" cy="1224136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Rasterization</a:t>
              </a:r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and Interpolation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5586348" y="4581128"/>
              <a:ext cx="1359768" cy="122413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Fragment Shader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7101517" y="4581128"/>
              <a:ext cx="1359768" cy="1224136"/>
            </a:xfrm>
            <a:prstGeom prst="round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Frame Buffer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오른쪽 화살표 11"/>
            <p:cNvSpPr/>
            <p:nvPr/>
          </p:nvSpPr>
          <p:spPr>
            <a:xfrm>
              <a:off x="2057667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3" name="오른쪽 화살표 12"/>
            <p:cNvSpPr/>
            <p:nvPr/>
          </p:nvSpPr>
          <p:spPr>
            <a:xfrm>
              <a:off x="3579873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4" name="오른쪽 화살표 13"/>
            <p:cNvSpPr/>
            <p:nvPr/>
          </p:nvSpPr>
          <p:spPr>
            <a:xfrm>
              <a:off x="5442044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5" name="오른쪽 화살표 14"/>
            <p:cNvSpPr/>
            <p:nvPr/>
          </p:nvSpPr>
          <p:spPr>
            <a:xfrm>
              <a:off x="6955352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4478707" y="4520927"/>
            <a:ext cx="30738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프로그래밍 가능한 </a:t>
            </a:r>
            <a:r>
              <a:rPr lang="en-US" altLang="ko-KR" dirty="0"/>
              <a:t>Shader!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1945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모서리가 둥근 직사각형 2"/>
          <p:cNvSpPr/>
          <p:nvPr/>
        </p:nvSpPr>
        <p:spPr>
          <a:xfrm>
            <a:off x="4897380" y="1772816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Vertex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81200" y="4437113"/>
            <a:ext cx="81472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/>
              <a:t>하나의</a:t>
            </a:r>
            <a:r>
              <a:rPr lang="en-US" altLang="ko-KR" sz="2800" dirty="0"/>
              <a:t> Vertex </a:t>
            </a:r>
            <a:r>
              <a:rPr lang="ko-KR" altLang="en-US" sz="2800" dirty="0"/>
              <a:t>단위로 처리되는 </a:t>
            </a:r>
            <a:r>
              <a:rPr lang="en-US" altLang="ko-KR" sz="2800" dirty="0"/>
              <a:t>stage</a:t>
            </a:r>
          </a:p>
          <a:p>
            <a:pPr algn="ctr"/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2175580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351584" y="4437113"/>
            <a:ext cx="74168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/>
              <a:t>하나의</a:t>
            </a:r>
            <a:r>
              <a:rPr lang="en-US" altLang="ko-KR" sz="2800" dirty="0"/>
              <a:t> Fragment </a:t>
            </a:r>
            <a:r>
              <a:rPr lang="ko-KR" altLang="en-US" sz="2800" dirty="0"/>
              <a:t>단위로 처리되는 </a:t>
            </a:r>
            <a:r>
              <a:rPr lang="en-US" altLang="ko-KR" sz="2800" dirty="0"/>
              <a:t>stage</a:t>
            </a:r>
          </a:p>
          <a:p>
            <a:pPr algn="ctr"/>
            <a:endParaRPr lang="en-US" altLang="ko-KR" sz="2800" dirty="0"/>
          </a:p>
        </p:txBody>
      </p:sp>
      <p:sp>
        <p:nvSpPr>
          <p:cNvPr id="5" name="모서리가 둥근 직사각형 4"/>
          <p:cNvSpPr/>
          <p:nvPr/>
        </p:nvSpPr>
        <p:spPr>
          <a:xfrm>
            <a:off x="4897380" y="1772816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Fragment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8813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모서리가 둥근 직사각형 2"/>
          <p:cNvSpPr/>
          <p:nvPr/>
        </p:nvSpPr>
        <p:spPr>
          <a:xfrm>
            <a:off x="2855640" y="1772816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Tessellation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287688" y="4437112"/>
            <a:ext cx="5928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본</a:t>
            </a:r>
            <a:r>
              <a:rPr lang="en-US" altLang="ko-KR" dirty="0"/>
              <a:t> </a:t>
            </a:r>
            <a:r>
              <a:rPr lang="ko-KR" altLang="en-US" dirty="0"/>
              <a:t>강의에서는 다루지 않음</a:t>
            </a:r>
          </a:p>
        </p:txBody>
      </p:sp>
      <p:sp>
        <p:nvSpPr>
          <p:cNvPr id="5" name="모서리가 둥근 직사각형 4"/>
          <p:cNvSpPr/>
          <p:nvPr/>
        </p:nvSpPr>
        <p:spPr>
          <a:xfrm>
            <a:off x="6672064" y="1772816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Geometry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3438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프로그래밍</a:t>
            </a:r>
            <a:r>
              <a:rPr lang="en-US" altLang="ko-KR" dirty="0"/>
              <a:t> </a:t>
            </a:r>
            <a:r>
              <a:rPr lang="ko-KR" altLang="en-US" dirty="0"/>
              <a:t>형식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6055151" y="2780928"/>
            <a:ext cx="4572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/>
              <a:t>#version 450 core</a:t>
            </a:r>
          </a:p>
          <a:p>
            <a:endParaRPr lang="en-US" altLang="ko-KR" dirty="0"/>
          </a:p>
          <a:p>
            <a:r>
              <a:rPr lang="en-US" altLang="ko-KR" dirty="0"/>
              <a:t>void </a:t>
            </a:r>
          </a:p>
          <a:p>
            <a:r>
              <a:rPr lang="en-US" altLang="ko-KR" dirty="0"/>
              <a:t>main() </a:t>
            </a:r>
          </a:p>
          <a:p>
            <a:r>
              <a:rPr lang="en-US" altLang="ko-KR" dirty="0"/>
              <a:t>{ </a:t>
            </a:r>
          </a:p>
          <a:p>
            <a:r>
              <a:rPr lang="en-US" altLang="ko-KR" dirty="0"/>
              <a:t>	// Your code goes here </a:t>
            </a:r>
          </a:p>
          <a:p>
            <a:r>
              <a:rPr lang="en-US" altLang="ko-KR" dirty="0"/>
              <a:t>}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6061254" y="2833886"/>
            <a:ext cx="3522290" cy="19593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040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Basic Types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648" y="3212977"/>
            <a:ext cx="6686550" cy="1895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54772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범위 </a:t>
            </a:r>
            <a:r>
              <a:rPr lang="en-US" altLang="ko-KR" dirty="0"/>
              <a:t>(C </a:t>
            </a:r>
            <a:r>
              <a:rPr lang="ko-KR" altLang="en-US" dirty="0"/>
              <a:t>와 동일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함수 외부에서 선언된 경우 전역 변수로 인식</a:t>
            </a:r>
            <a:endParaRPr lang="en-US" altLang="ko-KR" dirty="0"/>
          </a:p>
          <a:p>
            <a:pPr lvl="1"/>
            <a:r>
              <a:rPr lang="en-US" altLang="ko-KR" dirty="0"/>
              <a:t>For </a:t>
            </a:r>
            <a:r>
              <a:rPr lang="ko-KR" altLang="en-US" dirty="0"/>
              <a:t>나 </a:t>
            </a:r>
            <a:r>
              <a:rPr lang="en-US" altLang="ko-KR" dirty="0"/>
              <a:t>If </a:t>
            </a:r>
            <a:r>
              <a:rPr lang="ko-KR" altLang="en-US" dirty="0"/>
              <a:t>문 이후 등장하는 </a:t>
            </a:r>
            <a:r>
              <a:rPr lang="en-US" altLang="ko-KR" dirty="0"/>
              <a:t>{ } </a:t>
            </a:r>
            <a:r>
              <a:rPr lang="ko-KR" altLang="en-US" dirty="0"/>
              <a:t>내부에서 선언된 경우 내부에서만 제어 가능</a:t>
            </a:r>
            <a:endParaRPr lang="en-US" altLang="ko-KR" dirty="0"/>
          </a:p>
          <a:p>
            <a:pPr lvl="1"/>
            <a:r>
              <a:rPr lang="en-US" altLang="ko-KR" dirty="0"/>
              <a:t>{ } </a:t>
            </a:r>
            <a:r>
              <a:rPr lang="ko-KR" altLang="en-US" dirty="0"/>
              <a:t>외부의 </a:t>
            </a:r>
            <a:r>
              <a:rPr lang="en-US" altLang="ko-KR" dirty="0"/>
              <a:t>Variables </a:t>
            </a:r>
            <a:r>
              <a:rPr lang="ko-KR" altLang="en-US" dirty="0"/>
              <a:t>는 </a:t>
            </a:r>
            <a:r>
              <a:rPr lang="en-US" altLang="ko-KR" dirty="0"/>
              <a:t>{ } </a:t>
            </a:r>
            <a:r>
              <a:rPr lang="ko-KR" altLang="en-US" dirty="0"/>
              <a:t>내부에서 제어 가능</a:t>
            </a:r>
            <a:endParaRPr lang="en-US" altLang="ko-KR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3952" y="5105795"/>
            <a:ext cx="4352925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5663952" y="4987500"/>
            <a:ext cx="4352925" cy="8898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4042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초기화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697" y="3463281"/>
            <a:ext cx="5762625" cy="1019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3331123" y="3477766"/>
            <a:ext cx="5791199" cy="1008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652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타입 캐스팅</a:t>
            </a:r>
            <a:endParaRPr lang="en-US" altLang="ko-KR" dirty="0"/>
          </a:p>
          <a:p>
            <a:pPr lvl="1"/>
            <a:r>
              <a:rPr lang="ko-KR" altLang="en-US" dirty="0"/>
              <a:t>정보를 잃게 될 가능성이 있을 경우 명확하게 표시를 해 줘야 함</a:t>
            </a:r>
            <a:endParaRPr lang="en-US" altLang="ko-KR" dirty="0"/>
          </a:p>
          <a:p>
            <a:pPr lvl="2"/>
            <a:r>
              <a:rPr lang="en-US" altLang="ko-KR" dirty="0"/>
              <a:t>Ex : double </a:t>
            </a:r>
            <a:r>
              <a:rPr lang="en-US" altLang="ko-KR" dirty="0">
                <a:sym typeface="Wingdings" pitchFamily="2" charset="2"/>
              </a:rPr>
              <a:t> float, float  </a:t>
            </a:r>
            <a:r>
              <a:rPr lang="en-US" altLang="ko-KR" dirty="0" err="1">
                <a:sym typeface="Wingdings" pitchFamily="2" charset="2"/>
              </a:rPr>
              <a:t>int</a:t>
            </a:r>
            <a:r>
              <a:rPr lang="en-US" altLang="ko-KR" dirty="0">
                <a:sym typeface="Wingdings" pitchFamily="2" charset="2"/>
              </a:rPr>
              <a:t>, </a:t>
            </a:r>
            <a:r>
              <a:rPr lang="en-US" altLang="ko-KR" dirty="0" err="1">
                <a:sym typeface="Wingdings" pitchFamily="2" charset="2"/>
              </a:rPr>
              <a:t>uint</a:t>
            </a:r>
            <a:r>
              <a:rPr lang="en-US" altLang="ko-KR" dirty="0">
                <a:sym typeface="Wingdings" pitchFamily="2" charset="2"/>
              </a:rPr>
              <a:t>  </a:t>
            </a:r>
            <a:r>
              <a:rPr lang="en-US" altLang="ko-KR" dirty="0" err="1">
                <a:sym typeface="Wingdings" pitchFamily="2" charset="2"/>
              </a:rPr>
              <a:t>int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4357666"/>
            <a:ext cx="5248275" cy="1381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745" y="5773906"/>
            <a:ext cx="2733675" cy="600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7680176" y="4221088"/>
            <a:ext cx="1944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그냥</a:t>
            </a:r>
            <a:r>
              <a:rPr lang="en-US" altLang="ko-KR" dirty="0"/>
              <a:t> </a:t>
            </a:r>
            <a:r>
              <a:rPr lang="ko-KR" altLang="en-US" dirty="0"/>
              <a:t>변경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176" y="6055071"/>
            <a:ext cx="216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타입 캐스팅 필요</a:t>
            </a:r>
          </a:p>
        </p:txBody>
      </p:sp>
    </p:spTree>
    <p:extLst>
      <p:ext uri="{BB962C8B-B14F-4D97-AF65-F5344CB8AC3E}">
        <p14:creationId xmlns:p14="http://schemas.microsoft.com/office/powerpoint/2010/main" val="4057017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집합체 타입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7608" y="2708920"/>
            <a:ext cx="8784976" cy="3867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18347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집합체 타입 선언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2299" y="2996953"/>
            <a:ext cx="5219700" cy="257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2300" y="4293097"/>
            <a:ext cx="7343775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50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2300" y="5445225"/>
            <a:ext cx="3895725" cy="904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직사각형 6"/>
          <p:cNvSpPr/>
          <p:nvPr/>
        </p:nvSpPr>
        <p:spPr>
          <a:xfrm>
            <a:off x="3503712" y="4221088"/>
            <a:ext cx="7472363" cy="4320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3568005" y="2909515"/>
            <a:ext cx="5320879" cy="4320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49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집합체 타입 선언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6151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455" y="2472903"/>
            <a:ext cx="4152900" cy="742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52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2149" y="3501008"/>
            <a:ext cx="1924050" cy="962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오른쪽 화살표 3"/>
          <p:cNvSpPr/>
          <p:nvPr/>
        </p:nvSpPr>
        <p:spPr>
          <a:xfrm>
            <a:off x="8919329" y="3801999"/>
            <a:ext cx="43204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153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3331" y="3348435"/>
            <a:ext cx="5915025" cy="120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오른쪽 화살표 13"/>
          <p:cNvSpPr/>
          <p:nvPr/>
        </p:nvSpPr>
        <p:spPr>
          <a:xfrm rot="18845396">
            <a:off x="8919329" y="5465052"/>
            <a:ext cx="43204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154" name="Picture 1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905" y="4702097"/>
            <a:ext cx="4362450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오른쪽 화살표 12"/>
          <p:cNvSpPr/>
          <p:nvPr/>
        </p:nvSpPr>
        <p:spPr>
          <a:xfrm rot="1890669">
            <a:off x="8936515" y="2769451"/>
            <a:ext cx="43204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4448584" y="4674963"/>
            <a:ext cx="4359771" cy="19572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893330" y="3329385"/>
            <a:ext cx="5915024" cy="12096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4655456" y="2493864"/>
            <a:ext cx="4152899" cy="7219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430799" y="4702098"/>
            <a:ext cx="2075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Column major matrices</a:t>
            </a:r>
          </a:p>
        </p:txBody>
      </p:sp>
    </p:spTree>
    <p:extLst>
      <p:ext uri="{BB962C8B-B14F-4D97-AF65-F5344CB8AC3E}">
        <p14:creationId xmlns:p14="http://schemas.microsoft.com/office/powerpoint/2010/main" val="3259482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집합체 캐스팅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719" y="2857500"/>
            <a:ext cx="5200650" cy="295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720" y="3152775"/>
            <a:ext cx="4333875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720" y="4297660"/>
            <a:ext cx="2676525" cy="485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719" y="5521795"/>
            <a:ext cx="7353300" cy="55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3576117" y="2857500"/>
            <a:ext cx="5200253" cy="5715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3575720" y="4254796"/>
            <a:ext cx="2736304" cy="5715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3576117" y="5489426"/>
            <a:ext cx="7352903" cy="5715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4602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135560" y="4149080"/>
            <a:ext cx="3816424" cy="22322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집합체 사용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576" y="4293097"/>
            <a:ext cx="3333750" cy="600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576" y="5085185"/>
            <a:ext cx="3486150" cy="58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736" y="2353247"/>
            <a:ext cx="7648575" cy="158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253" y="5949281"/>
            <a:ext cx="2771775" cy="314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직사각형 8"/>
          <p:cNvSpPr/>
          <p:nvPr/>
        </p:nvSpPr>
        <p:spPr>
          <a:xfrm>
            <a:off x="6240016" y="4149080"/>
            <a:ext cx="3816424" cy="22322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198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978" y="4293096"/>
            <a:ext cx="32385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9" name="Picture 7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3160" y="4722280"/>
            <a:ext cx="22669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곱하기 기호 4">
            <a:extLst>
              <a:ext uri="{FF2B5EF4-FFF2-40B4-BE49-F238E27FC236}">
                <a16:creationId xmlns:a16="http://schemas.microsoft.com/office/drawing/2014/main" id="{822C7014-5554-9077-3177-A70B80D4671E}"/>
              </a:ext>
            </a:extLst>
          </p:cNvPr>
          <p:cNvSpPr/>
          <p:nvPr/>
        </p:nvSpPr>
        <p:spPr>
          <a:xfrm>
            <a:off x="8722322" y="5356038"/>
            <a:ext cx="1080120" cy="6854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원형: 비어 있음 5">
            <a:extLst>
              <a:ext uri="{FF2B5EF4-FFF2-40B4-BE49-F238E27FC236}">
                <a16:creationId xmlns:a16="http://schemas.microsoft.com/office/drawing/2014/main" id="{E98EC6CE-1D10-528A-521C-DA0FA05F1089}"/>
              </a:ext>
            </a:extLst>
          </p:cNvPr>
          <p:cNvSpPr/>
          <p:nvPr/>
        </p:nvSpPr>
        <p:spPr>
          <a:xfrm>
            <a:off x="5303912" y="5791200"/>
            <a:ext cx="576064" cy="483453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572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4028436" y="3326048"/>
            <a:ext cx="3680792" cy="120032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집합체 사용 연습문제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8256" y="3516637"/>
            <a:ext cx="340042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오른쪽 화살표 3"/>
          <p:cNvSpPr/>
          <p:nvPr/>
        </p:nvSpPr>
        <p:spPr>
          <a:xfrm>
            <a:off x="8501316" y="3770959"/>
            <a:ext cx="360040" cy="310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129935" y="3326046"/>
            <a:ext cx="23762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rgbClr val="FF0000"/>
                </a:solidFill>
              </a:rPr>
              <a:t>m?</a:t>
            </a:r>
          </a:p>
          <a:p>
            <a:r>
              <a:rPr lang="en-US" altLang="ko-KR" sz="2400" dirty="0" err="1">
                <a:solidFill>
                  <a:srgbClr val="FF0000"/>
                </a:solidFill>
              </a:rPr>
              <a:t>zVec</a:t>
            </a:r>
            <a:r>
              <a:rPr lang="en-US" altLang="ko-KR" sz="2400" dirty="0">
                <a:solidFill>
                  <a:srgbClr val="FF0000"/>
                </a:solidFill>
              </a:rPr>
              <a:t>?</a:t>
            </a:r>
          </a:p>
          <a:p>
            <a:r>
              <a:rPr lang="en-US" altLang="ko-KR" sz="2400" dirty="0" err="1">
                <a:solidFill>
                  <a:srgbClr val="FF0000"/>
                </a:solidFill>
              </a:rPr>
              <a:t>yScale</a:t>
            </a:r>
            <a:r>
              <a:rPr lang="en-US" altLang="ko-KR" sz="2400" dirty="0">
                <a:solidFill>
                  <a:srgbClr val="FF0000"/>
                </a:solidFill>
              </a:rPr>
              <a:t>?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091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선언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712" y="2673661"/>
            <a:ext cx="8258175" cy="1762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9064" y="4581128"/>
            <a:ext cx="8477250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06752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595500" y="2761655"/>
            <a:ext cx="4176464" cy="19442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2000" dirty="0">
                <a:solidFill>
                  <a:schemeClr val="tx1"/>
                </a:solidFill>
              </a:rPr>
              <a:t>float </a:t>
            </a:r>
            <a:r>
              <a:rPr lang="en-US" altLang="ko-KR" sz="2000" dirty="0" err="1">
                <a:solidFill>
                  <a:schemeClr val="tx1"/>
                </a:solidFill>
              </a:rPr>
              <a:t>addSome</a:t>
            </a:r>
            <a:r>
              <a:rPr lang="en-US" altLang="ko-KR" sz="2000" dirty="0">
                <a:solidFill>
                  <a:schemeClr val="tx1"/>
                </a:solidFill>
              </a:rPr>
              <a:t>(float a, out float b)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{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a = a+1.0;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b = a;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Return </a:t>
            </a:r>
            <a:r>
              <a:rPr lang="en-US" altLang="ko-KR" sz="2000" dirty="0" err="1">
                <a:solidFill>
                  <a:schemeClr val="tx1"/>
                </a:solidFill>
              </a:rPr>
              <a:t>a+b</a:t>
            </a:r>
            <a:r>
              <a:rPr lang="en-US" altLang="ko-KR" sz="2000" dirty="0">
                <a:solidFill>
                  <a:schemeClr val="tx1"/>
                </a:solidFill>
              </a:rPr>
              <a:t>;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}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OpenGL Shading Language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892696"/>
          </a:xfrm>
        </p:spPr>
        <p:txBody>
          <a:bodyPr/>
          <a:lstStyle/>
          <a:p>
            <a:r>
              <a:rPr lang="ko-KR" altLang="en-US" dirty="0"/>
              <a:t>함수 선언</a:t>
            </a:r>
            <a:endParaRPr lang="en-US" altLang="ko-KR" dirty="0"/>
          </a:p>
        </p:txBody>
      </p:sp>
      <p:sp>
        <p:nvSpPr>
          <p:cNvPr id="5" name="직사각형 4"/>
          <p:cNvSpPr/>
          <p:nvPr/>
        </p:nvSpPr>
        <p:spPr>
          <a:xfrm>
            <a:off x="5879977" y="2761655"/>
            <a:ext cx="4642121" cy="19442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2000" dirty="0">
                <a:solidFill>
                  <a:schemeClr val="tx1"/>
                </a:solidFill>
              </a:rPr>
              <a:t>float </a:t>
            </a:r>
            <a:r>
              <a:rPr lang="en-US" altLang="ko-KR" sz="2000" dirty="0" err="1">
                <a:solidFill>
                  <a:schemeClr val="tx1"/>
                </a:solidFill>
              </a:rPr>
              <a:t>addSome</a:t>
            </a:r>
            <a:r>
              <a:rPr lang="en-US" altLang="ko-KR" sz="2000" dirty="0">
                <a:solidFill>
                  <a:schemeClr val="tx1"/>
                </a:solidFill>
              </a:rPr>
              <a:t>(</a:t>
            </a:r>
            <a:r>
              <a:rPr lang="en-US" altLang="ko-KR" sz="2000" dirty="0" err="1">
                <a:solidFill>
                  <a:schemeClr val="tx1"/>
                </a:solidFill>
              </a:rPr>
              <a:t>const</a:t>
            </a:r>
            <a:r>
              <a:rPr lang="en-US" altLang="ko-KR" sz="2000" dirty="0">
                <a:solidFill>
                  <a:schemeClr val="tx1"/>
                </a:solidFill>
              </a:rPr>
              <a:t> in float a, float b)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{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a = a+1.0;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b = a;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Return </a:t>
            </a:r>
            <a:r>
              <a:rPr lang="en-US" altLang="ko-KR" sz="2000" dirty="0" err="1">
                <a:solidFill>
                  <a:schemeClr val="tx1"/>
                </a:solidFill>
              </a:rPr>
              <a:t>a+b</a:t>
            </a:r>
            <a:r>
              <a:rPr lang="en-US" altLang="ko-KR" sz="2000" dirty="0">
                <a:solidFill>
                  <a:schemeClr val="tx1"/>
                </a:solidFill>
              </a:rPr>
              <a:t>;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}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95500" y="4797152"/>
            <a:ext cx="4392488" cy="19442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2000" dirty="0">
                <a:solidFill>
                  <a:schemeClr val="tx1"/>
                </a:solidFill>
              </a:rPr>
              <a:t>float </a:t>
            </a:r>
            <a:r>
              <a:rPr lang="en-US" altLang="ko-KR" sz="2000" dirty="0" err="1">
                <a:solidFill>
                  <a:schemeClr val="tx1"/>
                </a:solidFill>
              </a:rPr>
              <a:t>addSome</a:t>
            </a:r>
            <a:r>
              <a:rPr lang="en-US" altLang="ko-KR" sz="2000" dirty="0">
                <a:solidFill>
                  <a:schemeClr val="tx1"/>
                </a:solidFill>
              </a:rPr>
              <a:t>(float a, </a:t>
            </a:r>
            <a:r>
              <a:rPr lang="en-US" altLang="ko-KR" sz="2000" dirty="0" err="1">
                <a:solidFill>
                  <a:schemeClr val="tx1"/>
                </a:solidFill>
              </a:rPr>
              <a:t>inout</a:t>
            </a:r>
            <a:r>
              <a:rPr lang="ko-KR" altLang="en-US" sz="2000" dirty="0">
                <a:solidFill>
                  <a:schemeClr val="tx1"/>
                </a:solidFill>
              </a:rPr>
              <a:t> </a:t>
            </a:r>
            <a:r>
              <a:rPr lang="en-US" altLang="ko-KR" sz="2000" dirty="0">
                <a:solidFill>
                  <a:schemeClr val="tx1"/>
                </a:solidFill>
              </a:rPr>
              <a:t>float b)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{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a = a+1.0;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b = a;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Return </a:t>
            </a:r>
            <a:r>
              <a:rPr lang="en-US" altLang="ko-KR" sz="2000" dirty="0" err="1">
                <a:solidFill>
                  <a:schemeClr val="tx1"/>
                </a:solidFill>
              </a:rPr>
              <a:t>a+b</a:t>
            </a:r>
            <a:r>
              <a:rPr lang="en-US" altLang="ko-KR" sz="2000" dirty="0">
                <a:solidFill>
                  <a:schemeClr val="tx1"/>
                </a:solidFill>
              </a:rPr>
              <a:t>;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}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6096001" y="4814647"/>
            <a:ext cx="4426097" cy="19442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2000" dirty="0">
                <a:solidFill>
                  <a:schemeClr val="tx1"/>
                </a:solidFill>
              </a:rPr>
              <a:t>float </a:t>
            </a:r>
            <a:r>
              <a:rPr lang="en-US" altLang="ko-KR" sz="2000" dirty="0" err="1">
                <a:solidFill>
                  <a:schemeClr val="tx1"/>
                </a:solidFill>
              </a:rPr>
              <a:t>addSome</a:t>
            </a:r>
            <a:r>
              <a:rPr lang="en-US" altLang="ko-KR" sz="2000" dirty="0">
                <a:solidFill>
                  <a:schemeClr val="tx1"/>
                </a:solidFill>
              </a:rPr>
              <a:t>(in float a, float b)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{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a = a+1.0;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b = a;</a:t>
            </a:r>
          </a:p>
          <a:p>
            <a:pPr lvl="1"/>
            <a:r>
              <a:rPr lang="en-US" altLang="ko-KR" sz="2000" dirty="0">
                <a:solidFill>
                  <a:schemeClr val="tx1"/>
                </a:solidFill>
              </a:rPr>
              <a:t>Return </a:t>
            </a:r>
            <a:r>
              <a:rPr lang="en-US" altLang="ko-KR" sz="2000" dirty="0" err="1">
                <a:solidFill>
                  <a:schemeClr val="tx1"/>
                </a:solidFill>
              </a:rPr>
              <a:t>a+b</a:t>
            </a:r>
            <a:r>
              <a:rPr lang="en-US" altLang="ko-KR" sz="2000" dirty="0">
                <a:solidFill>
                  <a:schemeClr val="tx1"/>
                </a:solidFill>
              </a:rPr>
              <a:t>;</a:t>
            </a:r>
          </a:p>
          <a:p>
            <a:r>
              <a:rPr lang="en-US" altLang="ko-KR" sz="2000" dirty="0">
                <a:solidFill>
                  <a:schemeClr val="tx1"/>
                </a:solidFill>
              </a:rPr>
              <a:t>}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0020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입출력</a:t>
            </a:r>
          </a:p>
        </p:txBody>
      </p:sp>
    </p:spTree>
    <p:extLst>
      <p:ext uri="{BB962C8B-B14F-4D97-AF65-F5344CB8AC3E}">
        <p14:creationId xmlns:p14="http://schemas.microsoft.com/office/powerpoint/2010/main" val="242410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입출력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en-US" altLang="ko-KR" dirty="0"/>
              <a:t>Shader</a:t>
            </a:r>
            <a:r>
              <a:rPr lang="ko-KR" altLang="en-US" dirty="0"/>
              <a:t> 단위로 입력 값과 출력 값이 있으며 고유의 입출력 값과 사용자 정의 입출력 값이 있음</a:t>
            </a:r>
          </a:p>
        </p:txBody>
      </p:sp>
      <p:sp>
        <p:nvSpPr>
          <p:cNvPr id="5" name="모서리가 둥근 직사각형 4"/>
          <p:cNvSpPr/>
          <p:nvPr/>
        </p:nvSpPr>
        <p:spPr>
          <a:xfrm>
            <a:off x="4897380" y="3356992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Vertex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8248" y="3246946"/>
            <a:ext cx="233975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사용자가 정의한 </a:t>
            </a:r>
            <a:r>
              <a:rPr lang="en-US" altLang="ko-KR" dirty="0">
                <a:solidFill>
                  <a:srgbClr val="FF0000"/>
                </a:solidFill>
              </a:rPr>
              <a:t>VS </a:t>
            </a:r>
            <a:r>
              <a:rPr lang="ko-KR" altLang="en-US" dirty="0">
                <a:solidFill>
                  <a:srgbClr val="FF0000"/>
                </a:solidFill>
              </a:rPr>
              <a:t>출력 값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altLang="ko-KR" dirty="0"/>
              <a:t>OpenGL </a:t>
            </a:r>
            <a:r>
              <a:rPr lang="ko-KR" altLang="en-US" dirty="0"/>
              <a:t>고유의 출력 값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gl_Position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gl_PointSize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1544" y="3246946"/>
            <a:ext cx="23042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사용자가 정의한 입력 값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itchFamily="34" charset="0"/>
              <a:buChar char="•"/>
            </a:pPr>
            <a:r>
              <a:rPr lang="en-US" altLang="ko-KR" dirty="0"/>
              <a:t>OpenGL </a:t>
            </a:r>
            <a:r>
              <a:rPr lang="ko-KR" altLang="en-US" dirty="0"/>
              <a:t>고유의 입력 값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gl_VertexID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gl_InstanceID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/>
              <a:t>…</a:t>
            </a:r>
          </a:p>
        </p:txBody>
      </p:sp>
      <p:sp>
        <p:nvSpPr>
          <p:cNvPr id="6" name="오른쪽 화살표 5"/>
          <p:cNvSpPr/>
          <p:nvPr/>
        </p:nvSpPr>
        <p:spPr>
          <a:xfrm>
            <a:off x="4295800" y="3933056"/>
            <a:ext cx="432048" cy="936104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오른쪽 화살표 8"/>
          <p:cNvSpPr/>
          <p:nvPr/>
        </p:nvSpPr>
        <p:spPr>
          <a:xfrm>
            <a:off x="7752184" y="3933056"/>
            <a:ext cx="432048" cy="936104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0592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입출력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en-US" altLang="ko-KR" dirty="0"/>
              <a:t>Shader</a:t>
            </a:r>
            <a:r>
              <a:rPr lang="ko-KR" altLang="en-US" dirty="0"/>
              <a:t> 단위로 입력 값과 출력 값이 있으며 고유의 입출력 값과 사용자 정의 입출력 값이 있음</a:t>
            </a:r>
          </a:p>
        </p:txBody>
      </p:sp>
      <p:sp>
        <p:nvSpPr>
          <p:cNvPr id="5" name="모서리가 둥근 직사각형 4"/>
          <p:cNvSpPr/>
          <p:nvPr/>
        </p:nvSpPr>
        <p:spPr>
          <a:xfrm>
            <a:off x="4897380" y="3356992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Fragment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8248" y="3246947"/>
            <a:ext cx="233975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사용자가 정의한 </a:t>
            </a:r>
            <a:r>
              <a:rPr lang="en-US" altLang="ko-KR" dirty="0">
                <a:solidFill>
                  <a:srgbClr val="FF0000"/>
                </a:solidFill>
              </a:rPr>
              <a:t>FS </a:t>
            </a:r>
            <a:r>
              <a:rPr lang="ko-KR" altLang="en-US" dirty="0">
                <a:solidFill>
                  <a:srgbClr val="FF0000"/>
                </a:solidFill>
              </a:rPr>
              <a:t>출력 값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altLang="ko-KR" dirty="0"/>
              <a:t>OpenGL </a:t>
            </a:r>
            <a:r>
              <a:rPr lang="ko-KR" altLang="en-US" dirty="0"/>
              <a:t>고유의 출력 값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gl_FragDepth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3512" y="3246947"/>
            <a:ext cx="259228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사용자가 정의한 </a:t>
            </a:r>
            <a:r>
              <a:rPr lang="en-US" altLang="ko-KR" dirty="0">
                <a:solidFill>
                  <a:srgbClr val="FF0000"/>
                </a:solidFill>
              </a:rPr>
              <a:t>FS </a:t>
            </a:r>
            <a:r>
              <a:rPr lang="ko-KR" altLang="en-US" dirty="0">
                <a:solidFill>
                  <a:srgbClr val="FF0000"/>
                </a:solidFill>
              </a:rPr>
              <a:t>입력 값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itchFamily="34" charset="0"/>
              <a:buChar char="•"/>
            </a:pPr>
            <a:r>
              <a:rPr lang="en-US" altLang="ko-KR" dirty="0"/>
              <a:t>OpenGL </a:t>
            </a:r>
            <a:r>
              <a:rPr lang="ko-KR" altLang="en-US" dirty="0"/>
              <a:t>고유의 입력 값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gl_FragCoord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gl_FrontFacing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 err="1"/>
              <a:t>gl_PointCoord</a:t>
            </a:r>
            <a:endParaRPr lang="en-US" altLang="ko-KR" dirty="0"/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6" name="오른쪽 화살표 5"/>
          <p:cNvSpPr/>
          <p:nvPr/>
        </p:nvSpPr>
        <p:spPr>
          <a:xfrm>
            <a:off x="4295800" y="3933056"/>
            <a:ext cx="432048" cy="936104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오른쪽 화살표 8"/>
          <p:cNvSpPr/>
          <p:nvPr/>
        </p:nvSpPr>
        <p:spPr>
          <a:xfrm>
            <a:off x="7752184" y="3933056"/>
            <a:ext cx="432048" cy="936104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4131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오른쪽 화살표 96"/>
          <p:cNvSpPr/>
          <p:nvPr/>
        </p:nvSpPr>
        <p:spPr>
          <a:xfrm>
            <a:off x="6168008" y="2420888"/>
            <a:ext cx="288032" cy="500202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제목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입출력</a:t>
            </a:r>
          </a:p>
        </p:txBody>
      </p:sp>
      <p:sp>
        <p:nvSpPr>
          <p:cNvPr id="4" name="모서리가 둥근 직사각형 3"/>
          <p:cNvSpPr/>
          <p:nvPr/>
        </p:nvSpPr>
        <p:spPr>
          <a:xfrm>
            <a:off x="3026622" y="2072258"/>
            <a:ext cx="1269178" cy="122413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Vertex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모서리가 둥근 직사각형 4"/>
          <p:cNvSpPr/>
          <p:nvPr/>
        </p:nvSpPr>
        <p:spPr>
          <a:xfrm>
            <a:off x="4875117" y="2072258"/>
            <a:ext cx="1410821" cy="122413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Primitive Assembly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6409636" y="2072258"/>
            <a:ext cx="1753365" cy="122413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Rasterization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and Interpolation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9" name="꺾인 연결선 8"/>
          <p:cNvCxnSpPr>
            <a:stCxn id="4" idx="3"/>
            <a:endCxn id="22" idx="1"/>
          </p:cNvCxnSpPr>
          <p:nvPr/>
        </p:nvCxnSpPr>
        <p:spPr>
          <a:xfrm flipH="1">
            <a:off x="3888482" y="2684327"/>
            <a:ext cx="407319" cy="1576865"/>
          </a:xfrm>
          <a:prstGeom prst="bentConnector5">
            <a:avLst>
              <a:gd name="adj1" fmla="val -56123"/>
              <a:gd name="adj2" fmla="val 56233"/>
              <a:gd name="adj3" fmla="val 15612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/>
        </p:nvSpPr>
        <p:spPr>
          <a:xfrm>
            <a:off x="8779776" y="2072259"/>
            <a:ext cx="1461364" cy="122413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Fragment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537859" y="1800033"/>
            <a:ext cx="1138945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사용자가 정의한 </a:t>
            </a:r>
            <a:r>
              <a:rPr lang="en-US" altLang="ko-KR" sz="1600" dirty="0">
                <a:solidFill>
                  <a:srgbClr val="FF0000"/>
                </a:solidFill>
              </a:rPr>
              <a:t>VS </a:t>
            </a:r>
            <a:r>
              <a:rPr lang="ko-KR" altLang="en-US" sz="1600" dirty="0">
                <a:solidFill>
                  <a:srgbClr val="FF0000"/>
                </a:solidFill>
              </a:rPr>
              <a:t>입력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888482" y="3845693"/>
            <a:ext cx="1301813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사용자가 정의한 </a:t>
            </a:r>
            <a:r>
              <a:rPr lang="en-US" altLang="ko-KR" sz="1600" dirty="0">
                <a:solidFill>
                  <a:srgbClr val="FF0000"/>
                </a:solidFill>
              </a:rPr>
              <a:t>VS </a:t>
            </a:r>
            <a:r>
              <a:rPr lang="ko-KR" altLang="en-US" sz="1600" dirty="0">
                <a:solidFill>
                  <a:srgbClr val="FF0000"/>
                </a:solidFill>
              </a:rPr>
              <a:t>출력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cxnSp>
        <p:nvCxnSpPr>
          <p:cNvPr id="24" name="꺾인 연결선 23"/>
          <p:cNvCxnSpPr>
            <a:stCxn id="10" idx="3"/>
            <a:endCxn id="27" idx="3"/>
          </p:cNvCxnSpPr>
          <p:nvPr/>
        </p:nvCxnSpPr>
        <p:spPr>
          <a:xfrm flipH="1">
            <a:off x="10160514" y="2684327"/>
            <a:ext cx="80626" cy="3252786"/>
          </a:xfrm>
          <a:prstGeom prst="bentConnector3">
            <a:avLst>
              <a:gd name="adj1" fmla="val -28353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8779776" y="5675503"/>
            <a:ext cx="13807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사용자가 정의한 </a:t>
            </a:r>
            <a:r>
              <a:rPr lang="en-US" altLang="ko-KR" sz="1400" dirty="0">
                <a:solidFill>
                  <a:srgbClr val="FF0000"/>
                </a:solidFill>
              </a:rPr>
              <a:t>FS </a:t>
            </a:r>
            <a:r>
              <a:rPr lang="ko-KR" altLang="en-US" sz="1400" dirty="0">
                <a:solidFill>
                  <a:srgbClr val="FF0000"/>
                </a:solidFill>
              </a:rPr>
              <a:t>출력 값</a:t>
            </a:r>
            <a:endParaRPr lang="en-US" altLang="ko-KR" sz="1400" dirty="0">
              <a:solidFill>
                <a:srgbClr val="FF0000"/>
              </a:solidFill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1537859" y="2813357"/>
            <a:ext cx="1138944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고유의 </a:t>
            </a:r>
            <a:r>
              <a:rPr lang="en-US" altLang="ko-KR" sz="1600" dirty="0">
                <a:solidFill>
                  <a:srgbClr val="FF0000"/>
                </a:solidFill>
              </a:rPr>
              <a:t>VS</a:t>
            </a:r>
            <a:r>
              <a:rPr lang="ko-KR" altLang="en-US" sz="1600" dirty="0">
                <a:solidFill>
                  <a:srgbClr val="FF0000"/>
                </a:solidFill>
              </a:rPr>
              <a:t>입력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cxnSp>
        <p:nvCxnSpPr>
          <p:cNvPr id="8" name="꺾인 연결선 7"/>
          <p:cNvCxnSpPr>
            <a:stCxn id="14" idx="3"/>
            <a:endCxn id="4" idx="1"/>
          </p:cNvCxnSpPr>
          <p:nvPr/>
        </p:nvCxnSpPr>
        <p:spPr>
          <a:xfrm>
            <a:off x="2676804" y="2215532"/>
            <a:ext cx="349819" cy="4687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연결선 15"/>
          <p:cNvCxnSpPr>
            <a:stCxn id="2" idx="3"/>
            <a:endCxn id="4" idx="1"/>
          </p:cNvCxnSpPr>
          <p:nvPr/>
        </p:nvCxnSpPr>
        <p:spPr>
          <a:xfrm flipV="1">
            <a:off x="2676804" y="2684326"/>
            <a:ext cx="349819" cy="4214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/>
          <p:cNvSpPr/>
          <p:nvPr/>
        </p:nvSpPr>
        <p:spPr>
          <a:xfrm>
            <a:off x="3888483" y="4881656"/>
            <a:ext cx="1301813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고유의 </a:t>
            </a:r>
            <a:r>
              <a:rPr lang="en-US" altLang="ko-KR" sz="1600" dirty="0">
                <a:solidFill>
                  <a:srgbClr val="FF0000"/>
                </a:solidFill>
              </a:rPr>
              <a:t>VS </a:t>
            </a:r>
            <a:r>
              <a:rPr lang="ko-KR" altLang="en-US" sz="1600" dirty="0">
                <a:solidFill>
                  <a:srgbClr val="FF0000"/>
                </a:solidFill>
              </a:rPr>
              <a:t>출력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cxnSp>
        <p:nvCxnSpPr>
          <p:cNvPr id="36" name="꺾인 연결선 35"/>
          <p:cNvCxnSpPr>
            <a:stCxn id="4" idx="3"/>
            <a:endCxn id="33" idx="1"/>
          </p:cNvCxnSpPr>
          <p:nvPr/>
        </p:nvCxnSpPr>
        <p:spPr>
          <a:xfrm flipH="1">
            <a:off x="3888482" y="2684327"/>
            <a:ext cx="407318" cy="2489717"/>
          </a:xfrm>
          <a:prstGeom prst="bentConnector5">
            <a:avLst>
              <a:gd name="adj1" fmla="val -56123"/>
              <a:gd name="adj2" fmla="val 35584"/>
              <a:gd name="adj3" fmla="val 15612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 41"/>
          <p:cNvCxnSpPr>
            <a:stCxn id="22" idx="3"/>
            <a:endCxn id="5" idx="1"/>
          </p:cNvCxnSpPr>
          <p:nvPr/>
        </p:nvCxnSpPr>
        <p:spPr>
          <a:xfrm flipH="1" flipV="1">
            <a:off x="4875116" y="2684327"/>
            <a:ext cx="315178" cy="1576865"/>
          </a:xfrm>
          <a:prstGeom prst="bentConnector5">
            <a:avLst>
              <a:gd name="adj1" fmla="val -72530"/>
              <a:gd name="adj2" fmla="val 43767"/>
              <a:gd name="adj3" fmla="val 1725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연결선 43"/>
          <p:cNvCxnSpPr>
            <a:stCxn id="33" idx="3"/>
            <a:endCxn id="5" idx="1"/>
          </p:cNvCxnSpPr>
          <p:nvPr/>
        </p:nvCxnSpPr>
        <p:spPr>
          <a:xfrm flipH="1" flipV="1">
            <a:off x="4875117" y="2684327"/>
            <a:ext cx="315179" cy="2489717"/>
          </a:xfrm>
          <a:prstGeom prst="bentConnector5">
            <a:avLst>
              <a:gd name="adj1" fmla="val -72530"/>
              <a:gd name="adj2" fmla="val 64416"/>
              <a:gd name="adj3" fmla="val 1725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/>
          <p:cNvSpPr/>
          <p:nvPr/>
        </p:nvSpPr>
        <p:spPr>
          <a:xfrm>
            <a:off x="8779776" y="6261949"/>
            <a:ext cx="13807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고유의</a:t>
            </a:r>
            <a:r>
              <a:rPr lang="en-US" altLang="ko-KR" sz="1400" dirty="0">
                <a:solidFill>
                  <a:srgbClr val="FF0000"/>
                </a:solidFill>
              </a:rPr>
              <a:t> FS </a:t>
            </a:r>
            <a:r>
              <a:rPr lang="ko-KR" altLang="en-US" sz="1400" dirty="0">
                <a:solidFill>
                  <a:srgbClr val="FF0000"/>
                </a:solidFill>
              </a:rPr>
              <a:t>출력 값</a:t>
            </a:r>
            <a:endParaRPr lang="en-US" altLang="ko-KR" sz="1400" dirty="0">
              <a:solidFill>
                <a:srgbClr val="FF0000"/>
              </a:solidFill>
            </a:endParaRPr>
          </a:p>
        </p:txBody>
      </p:sp>
      <p:sp>
        <p:nvSpPr>
          <p:cNvPr id="94" name="직사각형 93"/>
          <p:cNvSpPr/>
          <p:nvPr/>
        </p:nvSpPr>
        <p:spPr>
          <a:xfrm>
            <a:off x="7820482" y="3845692"/>
            <a:ext cx="1301813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사용자가 정의한 </a:t>
            </a:r>
            <a:r>
              <a:rPr lang="en-US" altLang="ko-KR" sz="1600" dirty="0">
                <a:solidFill>
                  <a:srgbClr val="FF0000"/>
                </a:solidFill>
              </a:rPr>
              <a:t>FS</a:t>
            </a:r>
            <a:r>
              <a:rPr lang="ko-KR" altLang="en-US" sz="1600" dirty="0">
                <a:solidFill>
                  <a:srgbClr val="FF0000"/>
                </a:solidFill>
              </a:rPr>
              <a:t> 입력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7817370" y="4881656"/>
            <a:ext cx="1301813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고유의 </a:t>
            </a:r>
            <a:r>
              <a:rPr lang="en-US" altLang="ko-KR" sz="1600" dirty="0">
                <a:solidFill>
                  <a:srgbClr val="FF0000"/>
                </a:solidFill>
              </a:rPr>
              <a:t>FS </a:t>
            </a:r>
            <a:r>
              <a:rPr lang="ko-KR" altLang="en-US" sz="1600" dirty="0">
                <a:solidFill>
                  <a:srgbClr val="FF0000"/>
                </a:solidFill>
              </a:rPr>
              <a:t>입력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cxnSp>
        <p:nvCxnSpPr>
          <p:cNvPr id="102" name="꺾인 연결선 101"/>
          <p:cNvCxnSpPr>
            <a:stCxn id="10" idx="3"/>
            <a:endCxn id="81" idx="3"/>
          </p:cNvCxnSpPr>
          <p:nvPr/>
        </p:nvCxnSpPr>
        <p:spPr>
          <a:xfrm flipH="1">
            <a:off x="10160514" y="2684327"/>
            <a:ext cx="80626" cy="3839232"/>
          </a:xfrm>
          <a:prstGeom prst="bentConnector3">
            <a:avLst>
              <a:gd name="adj1" fmla="val -2835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 103"/>
          <p:cNvCxnSpPr>
            <a:stCxn id="6" idx="3"/>
            <a:endCxn id="94" idx="1"/>
          </p:cNvCxnSpPr>
          <p:nvPr/>
        </p:nvCxnSpPr>
        <p:spPr>
          <a:xfrm flipH="1">
            <a:off x="7820482" y="2684326"/>
            <a:ext cx="342519" cy="1576864"/>
          </a:xfrm>
          <a:prstGeom prst="bentConnector5">
            <a:avLst>
              <a:gd name="adj1" fmla="val -66741"/>
              <a:gd name="adj2" fmla="val 56233"/>
              <a:gd name="adj3" fmla="val 16674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 105"/>
          <p:cNvCxnSpPr>
            <a:stCxn id="6" idx="3"/>
            <a:endCxn id="95" idx="1"/>
          </p:cNvCxnSpPr>
          <p:nvPr/>
        </p:nvCxnSpPr>
        <p:spPr>
          <a:xfrm flipH="1">
            <a:off x="7817370" y="2684327"/>
            <a:ext cx="345631" cy="2489717"/>
          </a:xfrm>
          <a:prstGeom prst="bentConnector5">
            <a:avLst>
              <a:gd name="adj1" fmla="val -66140"/>
              <a:gd name="adj2" fmla="val 35583"/>
              <a:gd name="adj3" fmla="val 16614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꺾인 연결선 107"/>
          <p:cNvCxnSpPr>
            <a:stCxn id="94" idx="3"/>
            <a:endCxn id="10" idx="1"/>
          </p:cNvCxnSpPr>
          <p:nvPr/>
        </p:nvCxnSpPr>
        <p:spPr>
          <a:xfrm flipH="1" flipV="1">
            <a:off x="8779776" y="2684328"/>
            <a:ext cx="342518" cy="1576863"/>
          </a:xfrm>
          <a:prstGeom prst="bentConnector5">
            <a:avLst>
              <a:gd name="adj1" fmla="val -66741"/>
              <a:gd name="adj2" fmla="val 43767"/>
              <a:gd name="adj3" fmla="val 16674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 109"/>
          <p:cNvCxnSpPr>
            <a:stCxn id="95" idx="3"/>
            <a:endCxn id="10" idx="1"/>
          </p:cNvCxnSpPr>
          <p:nvPr/>
        </p:nvCxnSpPr>
        <p:spPr>
          <a:xfrm flipH="1" flipV="1">
            <a:off x="8779776" y="2684327"/>
            <a:ext cx="339406" cy="2489716"/>
          </a:xfrm>
          <a:prstGeom prst="bentConnector5">
            <a:avLst>
              <a:gd name="adj1" fmla="val -67353"/>
              <a:gd name="adj2" fmla="val 64062"/>
              <a:gd name="adj3" fmla="val 1673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폭발 2 113"/>
          <p:cNvSpPr/>
          <p:nvPr/>
        </p:nvSpPr>
        <p:spPr>
          <a:xfrm>
            <a:off x="1551769" y="3341635"/>
            <a:ext cx="1251102" cy="1008112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폭발 2 114"/>
          <p:cNvSpPr/>
          <p:nvPr/>
        </p:nvSpPr>
        <p:spPr>
          <a:xfrm>
            <a:off x="3979506" y="5466430"/>
            <a:ext cx="1251102" cy="1008112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폭발 2 115"/>
          <p:cNvSpPr/>
          <p:nvPr/>
        </p:nvSpPr>
        <p:spPr>
          <a:xfrm>
            <a:off x="7464673" y="5446372"/>
            <a:ext cx="1251102" cy="1008112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폭발 2 116"/>
          <p:cNvSpPr/>
          <p:nvPr/>
        </p:nvSpPr>
        <p:spPr>
          <a:xfrm>
            <a:off x="9369921" y="4718168"/>
            <a:ext cx="1251102" cy="1008112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217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 vol="100000"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bomb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 vol="100000"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bomb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 vol="100000"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 vol="100000">
                                        <p:cTn display="0" masterRel="sameClick">
                                          <p:stCondLst>
                                            <p:cond evt="begin" delay="0">
                                              <p:tn val="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arrow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animBg="1"/>
      <p:bldP spid="115" grpId="0" animBg="1"/>
      <p:bldP spid="116" grpId="0" animBg="1"/>
      <p:bldP spid="1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Vertex </a:t>
            </a:r>
            <a:r>
              <a:rPr lang="en-US" altLang="ko-KR" dirty="0" err="1"/>
              <a:t>shader</a:t>
            </a:r>
            <a:r>
              <a:rPr lang="en-US" altLang="ko-KR" dirty="0"/>
              <a:t> </a:t>
            </a:r>
            <a:r>
              <a:rPr lang="ko-KR" altLang="en-US" dirty="0"/>
              <a:t>입력</a:t>
            </a:r>
          </a:p>
        </p:txBody>
      </p:sp>
    </p:spTree>
    <p:extLst>
      <p:ext uri="{BB962C8B-B14F-4D97-AF65-F5344CB8AC3E}">
        <p14:creationId xmlns:p14="http://schemas.microsoft.com/office/powerpoint/2010/main" val="2453380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Vertex Shader </a:t>
            </a:r>
            <a:r>
              <a:rPr lang="ko-KR" altLang="en-US" dirty="0"/>
              <a:t>입력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975411" y="1803530"/>
            <a:ext cx="475746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ko-KR" altLang="en-US" sz="2400" dirty="0">
                <a:solidFill>
                  <a:srgbClr val="FF0000"/>
                </a:solidFill>
              </a:rPr>
              <a:t>사용자가 정의한 </a:t>
            </a:r>
            <a:r>
              <a:rPr lang="en-US" altLang="ko-KR" sz="2400" dirty="0">
                <a:solidFill>
                  <a:srgbClr val="FF0000"/>
                </a:solidFill>
              </a:rPr>
              <a:t>VS </a:t>
            </a:r>
            <a:r>
              <a:rPr lang="ko-KR" altLang="en-US" sz="2400" dirty="0">
                <a:solidFill>
                  <a:srgbClr val="FF0000"/>
                </a:solidFill>
              </a:rPr>
              <a:t>입력 값</a:t>
            </a:r>
            <a:endParaRPr lang="en-US" altLang="ko-KR" sz="2400" dirty="0">
              <a:solidFill>
                <a:srgbClr val="FF0000"/>
              </a:solidFill>
            </a:endParaRPr>
          </a:p>
          <a:p>
            <a:pPr marL="742950" lvl="1" indent="-285750"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FF0000"/>
                </a:solidFill>
              </a:rPr>
              <a:t>Attribute </a:t>
            </a:r>
            <a:r>
              <a:rPr lang="ko-KR" altLang="en-US" sz="2400" dirty="0">
                <a:solidFill>
                  <a:srgbClr val="FF0000"/>
                </a:solidFill>
              </a:rPr>
              <a:t>라 칭함</a:t>
            </a:r>
            <a:endParaRPr lang="en-US" altLang="ko-KR" sz="2400" dirty="0">
              <a:solidFill>
                <a:srgbClr val="FF0000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346649" y="5373216"/>
            <a:ext cx="569437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err="1"/>
              <a:t>glEnableVertexAttribArray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);</a:t>
            </a:r>
          </a:p>
          <a:p>
            <a:r>
              <a:rPr lang="en-US" altLang="ko-KR" dirty="0" err="1"/>
              <a:t>glBindBuffer</a:t>
            </a:r>
            <a:r>
              <a:rPr lang="en-US" altLang="ko-KR" dirty="0"/>
              <a:t>(GL_ARRAY_BUFFER, VBO);</a:t>
            </a:r>
          </a:p>
          <a:p>
            <a:r>
              <a:rPr lang="en-US" altLang="ko-KR" dirty="0" err="1"/>
              <a:t>glVertexAttribPointer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, 3, GL_FLOAT, GL_FALSE, 0, 0);</a:t>
            </a:r>
            <a:endParaRPr lang="ko-KR" altLang="en-US" dirty="0"/>
          </a:p>
        </p:txBody>
      </p:sp>
      <p:sp>
        <p:nvSpPr>
          <p:cNvPr id="7" name="모서리가 둥근 직사각형 6"/>
          <p:cNvSpPr/>
          <p:nvPr/>
        </p:nvSpPr>
        <p:spPr>
          <a:xfrm>
            <a:off x="6771849" y="3461912"/>
            <a:ext cx="1269178" cy="122413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Vertex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5283086" y="3189687"/>
            <a:ext cx="1138945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사용자가 정의한 </a:t>
            </a:r>
            <a:r>
              <a:rPr lang="en-US" altLang="ko-KR" sz="1600" dirty="0">
                <a:solidFill>
                  <a:srgbClr val="FF0000"/>
                </a:solidFill>
              </a:rPr>
              <a:t>VS </a:t>
            </a:r>
            <a:r>
              <a:rPr lang="ko-KR" altLang="en-US" sz="1600" dirty="0">
                <a:solidFill>
                  <a:srgbClr val="FF0000"/>
                </a:solidFill>
              </a:rPr>
              <a:t>입력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83086" y="4203011"/>
            <a:ext cx="1138944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고유의 </a:t>
            </a:r>
            <a:r>
              <a:rPr lang="en-US" altLang="ko-KR" sz="1600" dirty="0">
                <a:solidFill>
                  <a:srgbClr val="FF0000"/>
                </a:solidFill>
              </a:rPr>
              <a:t>VS</a:t>
            </a:r>
            <a:r>
              <a:rPr lang="ko-KR" altLang="en-US" sz="1600" dirty="0">
                <a:solidFill>
                  <a:srgbClr val="FF0000"/>
                </a:solidFill>
              </a:rPr>
              <a:t>입력 값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cxnSp>
        <p:nvCxnSpPr>
          <p:cNvPr id="11" name="꺾인 연결선 10"/>
          <p:cNvCxnSpPr>
            <a:stCxn id="9" idx="3"/>
            <a:endCxn id="7" idx="1"/>
          </p:cNvCxnSpPr>
          <p:nvPr/>
        </p:nvCxnSpPr>
        <p:spPr>
          <a:xfrm>
            <a:off x="6422031" y="3605186"/>
            <a:ext cx="349819" cy="4687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 11"/>
          <p:cNvCxnSpPr>
            <a:stCxn id="10" idx="3"/>
            <a:endCxn id="7" idx="1"/>
          </p:cNvCxnSpPr>
          <p:nvPr/>
        </p:nvCxnSpPr>
        <p:spPr>
          <a:xfrm flipV="1">
            <a:off x="6422031" y="4073980"/>
            <a:ext cx="349819" cy="4214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4224535" y="3404211"/>
            <a:ext cx="11044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Attribute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1880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2156148" y="3171825"/>
            <a:ext cx="4320852" cy="3274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Vertex Shader </a:t>
            </a:r>
            <a:r>
              <a:rPr lang="ko-KR" altLang="en-US" dirty="0"/>
              <a:t>입력</a:t>
            </a:r>
          </a:p>
        </p:txBody>
      </p:sp>
      <p:sp>
        <p:nvSpPr>
          <p:cNvPr id="3" name="모서리가 둥근 직사각형 2"/>
          <p:cNvSpPr/>
          <p:nvPr/>
        </p:nvSpPr>
        <p:spPr>
          <a:xfrm>
            <a:off x="7320136" y="2852936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Vertex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35560" y="2852937"/>
            <a:ext cx="51845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사용자가 정의한 입력 값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  <a:sym typeface="Wingdings" pitchFamily="2" charset="2"/>
              </a:rPr>
              <a:t> </a:t>
            </a:r>
            <a:r>
              <a:rPr lang="en-US" altLang="ko-KR" dirty="0"/>
              <a:t>layout (location = 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) in vec3 Position;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880659" y="5733256"/>
            <a:ext cx="569437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err="1"/>
              <a:t>glEnableVertexAttribArray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);</a:t>
            </a:r>
          </a:p>
          <a:p>
            <a:r>
              <a:rPr lang="en-US" altLang="ko-KR" dirty="0" err="1"/>
              <a:t>glBindBuffer</a:t>
            </a:r>
            <a:r>
              <a:rPr lang="en-US" altLang="ko-KR" dirty="0"/>
              <a:t>(GL_ARRAY_BUFFER, VBO);</a:t>
            </a:r>
          </a:p>
          <a:p>
            <a:r>
              <a:rPr lang="en-US" altLang="ko-KR" dirty="0" err="1"/>
              <a:t>glVertexAttribPointer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, 3, GL_FLOAT, GL_FALSE, 0, 0);</a:t>
            </a:r>
            <a:endParaRPr lang="ko-KR" altLang="en-US" dirty="0"/>
          </a:p>
        </p:txBody>
      </p:sp>
      <p:cxnSp>
        <p:nvCxnSpPr>
          <p:cNvPr id="8" name="직선 화살표 연결선 7"/>
          <p:cNvCxnSpPr>
            <a:cxnSpLocks/>
          </p:cNvCxnSpPr>
          <p:nvPr/>
        </p:nvCxnSpPr>
        <p:spPr>
          <a:xfrm flipH="1" flipV="1">
            <a:off x="4223792" y="3429000"/>
            <a:ext cx="288032" cy="244827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69620" y="3527720"/>
            <a:ext cx="53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버텍스</a:t>
            </a:r>
            <a:r>
              <a:rPr lang="ko-KR" altLang="en-US" dirty="0"/>
              <a:t> </a:t>
            </a:r>
            <a:r>
              <a:rPr lang="ko-KR" altLang="en-US" dirty="0" err="1"/>
              <a:t>셰이더</a:t>
            </a:r>
            <a:r>
              <a:rPr lang="en-US" altLang="ko-KR" dirty="0"/>
              <a:t> </a:t>
            </a:r>
            <a:r>
              <a:rPr lang="ko-KR" altLang="en-US" dirty="0"/>
              <a:t>코드의 </a:t>
            </a:r>
            <a:r>
              <a:rPr lang="en-US" altLang="ko-KR" dirty="0"/>
              <a:t>layout </a:t>
            </a:r>
            <a:r>
              <a:rPr lang="ko-KR" altLang="en-US" dirty="0"/>
              <a:t>부분과 연동됨</a:t>
            </a:r>
          </a:p>
        </p:txBody>
      </p:sp>
    </p:spTree>
    <p:extLst>
      <p:ext uri="{BB962C8B-B14F-4D97-AF65-F5344CB8AC3E}">
        <p14:creationId xmlns:p14="http://schemas.microsoft.com/office/powerpoint/2010/main" val="1970616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2156148" y="3171825"/>
            <a:ext cx="4320852" cy="545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Vertex Shader </a:t>
            </a:r>
            <a:r>
              <a:rPr lang="ko-KR" altLang="en-US" dirty="0"/>
              <a:t>입력</a:t>
            </a:r>
          </a:p>
        </p:txBody>
      </p:sp>
      <p:sp>
        <p:nvSpPr>
          <p:cNvPr id="3" name="모서리가 둥근 직사각형 2"/>
          <p:cNvSpPr/>
          <p:nvPr/>
        </p:nvSpPr>
        <p:spPr>
          <a:xfrm>
            <a:off x="7320136" y="2852936"/>
            <a:ext cx="2709514" cy="208823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Vertex Shader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35560" y="2852936"/>
            <a:ext cx="51845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사용자가 정의한 입력 값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Wingdings"/>
              <a:buChar char="à"/>
            </a:pPr>
            <a:r>
              <a:rPr lang="en-US" altLang="ko-KR" dirty="0"/>
              <a:t>layout (location = 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) in vec3 Position;</a:t>
            </a:r>
          </a:p>
          <a:p>
            <a:pPr marL="285750" indent="-285750">
              <a:buFont typeface="Wingdings"/>
              <a:buChar char="à"/>
            </a:pPr>
            <a:r>
              <a:rPr lang="en-US" altLang="ko-KR" dirty="0"/>
              <a:t>layout (location = </a:t>
            </a:r>
            <a:r>
              <a:rPr lang="en-US" altLang="ko-KR" b="1" dirty="0">
                <a:solidFill>
                  <a:srgbClr val="0070C0"/>
                </a:solidFill>
              </a:rPr>
              <a:t>1</a:t>
            </a:r>
            <a:r>
              <a:rPr lang="en-US" altLang="ko-KR" dirty="0"/>
              <a:t>) in vec3 Color;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535436" y="4797704"/>
            <a:ext cx="5700791" cy="20313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err="1"/>
              <a:t>glEnableVertexAttribArray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);</a:t>
            </a:r>
          </a:p>
          <a:p>
            <a:r>
              <a:rPr lang="en-US" altLang="ko-KR" dirty="0" err="1"/>
              <a:t>glBindBuffer</a:t>
            </a:r>
            <a:r>
              <a:rPr lang="en-US" altLang="ko-KR" dirty="0"/>
              <a:t>(GL_ARRAY_BUFFER, VBO);</a:t>
            </a:r>
          </a:p>
          <a:p>
            <a:r>
              <a:rPr lang="en-US" altLang="ko-KR" dirty="0" err="1"/>
              <a:t>glVertexAttribPointer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dirty="0"/>
              <a:t>, 3, GL_FLOAT, GL_FALSE, 0, 0);</a:t>
            </a:r>
          </a:p>
          <a:p>
            <a:endParaRPr lang="en-US" altLang="ko-KR" dirty="0"/>
          </a:p>
          <a:p>
            <a:r>
              <a:rPr lang="en-US" altLang="ko-KR" dirty="0" err="1"/>
              <a:t>glEnableVertexAttribArray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0070C0"/>
                </a:solidFill>
              </a:rPr>
              <a:t>1</a:t>
            </a:r>
            <a:r>
              <a:rPr lang="en-US" altLang="ko-KR" dirty="0"/>
              <a:t>);</a:t>
            </a:r>
          </a:p>
          <a:p>
            <a:r>
              <a:rPr lang="en-US" altLang="ko-KR" dirty="0" err="1"/>
              <a:t>glBindBuffer</a:t>
            </a:r>
            <a:r>
              <a:rPr lang="en-US" altLang="ko-KR" dirty="0"/>
              <a:t>(GL_ARRAY_BUFFER, VBO1);</a:t>
            </a:r>
          </a:p>
          <a:p>
            <a:r>
              <a:rPr lang="en-US" altLang="ko-KR" dirty="0" err="1"/>
              <a:t>glVertexAttribPointer</a:t>
            </a:r>
            <a:r>
              <a:rPr lang="en-US" altLang="ko-KR" dirty="0"/>
              <a:t>(</a:t>
            </a:r>
            <a:r>
              <a:rPr lang="en-US" altLang="ko-KR" b="1" dirty="0">
                <a:solidFill>
                  <a:srgbClr val="0070C0"/>
                </a:solidFill>
              </a:rPr>
              <a:t>1</a:t>
            </a:r>
            <a:r>
              <a:rPr lang="en-US" altLang="ko-KR" dirty="0"/>
              <a:t>, 3, GL_FLOAT, GL_FALSE, 0, 0);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376364" y="1591926"/>
            <a:ext cx="789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사용자가</a:t>
            </a:r>
            <a:r>
              <a:rPr lang="en-US" altLang="ko-KR" sz="2400" dirty="0"/>
              <a:t> </a:t>
            </a:r>
            <a:r>
              <a:rPr lang="ko-KR" altLang="en-US" sz="2400" dirty="0"/>
              <a:t>원하는 입력 값이 두 개라면</a:t>
            </a:r>
            <a:r>
              <a:rPr lang="en-US" altLang="ko-KR" sz="2400" dirty="0"/>
              <a:t>?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643582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Vertex Shader </a:t>
            </a:r>
            <a:r>
              <a:rPr lang="ko-KR" altLang="en-US" dirty="0"/>
              <a:t>입력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layout </a:t>
            </a:r>
            <a:r>
              <a:rPr lang="ko-KR" altLang="en-US" dirty="0"/>
              <a:t>없이도 사용 가능</a:t>
            </a:r>
            <a:endParaRPr lang="en-US" altLang="ko-KR" dirty="0"/>
          </a:p>
          <a:p>
            <a:pPr lvl="1"/>
            <a:r>
              <a:rPr lang="en-US" altLang="ko-KR" dirty="0" err="1"/>
              <a:t>GLint</a:t>
            </a:r>
            <a:r>
              <a:rPr lang="en-US" altLang="ko-KR" dirty="0"/>
              <a:t> </a:t>
            </a:r>
            <a:r>
              <a:rPr lang="en-US" altLang="ko-KR" dirty="0" err="1"/>
              <a:t>glGetAttribLocation</a:t>
            </a:r>
            <a:r>
              <a:rPr lang="en-US" altLang="ko-KR" dirty="0"/>
              <a:t>(</a:t>
            </a:r>
            <a:r>
              <a:rPr lang="en-US" altLang="ko-KR" dirty="0" err="1"/>
              <a:t>GLuint</a:t>
            </a:r>
            <a:r>
              <a:rPr lang="en-US" altLang="ko-KR" dirty="0"/>
              <a:t> program, </a:t>
            </a:r>
            <a:r>
              <a:rPr lang="en-US" altLang="ko-KR" dirty="0" err="1"/>
              <a:t>const</a:t>
            </a:r>
            <a:r>
              <a:rPr lang="en-US" altLang="ko-KR" dirty="0"/>
              <a:t> char* name);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56856" y="3473872"/>
            <a:ext cx="4320852" cy="545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3236268" y="3154983"/>
            <a:ext cx="51845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사용자가 정의한 입력 값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 typeface="Wingdings"/>
              <a:buChar char="à"/>
            </a:pPr>
            <a:r>
              <a:rPr lang="en-US" altLang="ko-KR" dirty="0"/>
              <a:t>in vec3 Position;</a:t>
            </a:r>
          </a:p>
          <a:p>
            <a:pPr marL="285750" indent="-285750">
              <a:buFont typeface="Wingdings"/>
              <a:buChar char="à"/>
            </a:pPr>
            <a:r>
              <a:rPr lang="en-US" altLang="ko-KR" dirty="0"/>
              <a:t>in vec3 Color;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207568" y="4151372"/>
            <a:ext cx="69665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altLang="ko-KR" dirty="0" err="1"/>
              <a:t>GLint</a:t>
            </a:r>
            <a:r>
              <a:rPr lang="en-US" altLang="ko-KR" dirty="0"/>
              <a:t> id0 =  </a:t>
            </a:r>
            <a:r>
              <a:rPr lang="en-US" altLang="ko-KR" dirty="0" err="1"/>
              <a:t>glGetAttribLocation</a:t>
            </a:r>
            <a:r>
              <a:rPr lang="en-US" altLang="ko-KR" dirty="0"/>
              <a:t>(program, “Position”);</a:t>
            </a:r>
          </a:p>
          <a:p>
            <a:pPr lvl="1"/>
            <a:r>
              <a:rPr lang="en-US" altLang="ko-KR" dirty="0" err="1"/>
              <a:t>GLint</a:t>
            </a:r>
            <a:r>
              <a:rPr lang="en-US" altLang="ko-KR" dirty="0"/>
              <a:t> id1 =  </a:t>
            </a:r>
            <a:r>
              <a:rPr lang="en-US" altLang="ko-KR" dirty="0" err="1"/>
              <a:t>glGetAttribLocation</a:t>
            </a:r>
            <a:r>
              <a:rPr lang="en-US" altLang="ko-KR" dirty="0"/>
              <a:t>(program, “Color”);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639964" y="4797703"/>
            <a:ext cx="7872933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/>
              <a:t>glEnableVertexAttribArray</a:t>
            </a:r>
            <a:r>
              <a:rPr lang="en-US" altLang="ko-KR" dirty="0"/>
              <a:t>(id0);</a:t>
            </a:r>
          </a:p>
          <a:p>
            <a:r>
              <a:rPr lang="en-US" altLang="ko-KR" dirty="0" err="1"/>
              <a:t>glBindBuffer</a:t>
            </a:r>
            <a:r>
              <a:rPr lang="en-US" altLang="ko-KR" dirty="0"/>
              <a:t>(GL_ARRAY_BUFFER, VBO);</a:t>
            </a:r>
          </a:p>
          <a:p>
            <a:r>
              <a:rPr lang="en-US" altLang="ko-KR" dirty="0" err="1"/>
              <a:t>glVertexAttribPointer</a:t>
            </a:r>
            <a:r>
              <a:rPr lang="en-US" altLang="ko-KR" dirty="0"/>
              <a:t>(id0, 3, GL_FLOAT, GL_FALSE, 0, 0);</a:t>
            </a:r>
          </a:p>
          <a:p>
            <a:endParaRPr lang="en-US" altLang="ko-KR" dirty="0"/>
          </a:p>
          <a:p>
            <a:r>
              <a:rPr lang="en-US" altLang="ko-KR" dirty="0" err="1"/>
              <a:t>glEnableVertexAttribArray</a:t>
            </a:r>
            <a:r>
              <a:rPr lang="en-US" altLang="ko-KR" dirty="0"/>
              <a:t>(id1);</a:t>
            </a:r>
          </a:p>
          <a:p>
            <a:r>
              <a:rPr lang="en-US" altLang="ko-KR" dirty="0" err="1"/>
              <a:t>glBindBuffer</a:t>
            </a:r>
            <a:r>
              <a:rPr lang="en-US" altLang="ko-KR" dirty="0"/>
              <a:t>(GL_ARRAY_BUFFER, VBO1);</a:t>
            </a:r>
          </a:p>
          <a:p>
            <a:r>
              <a:rPr lang="en-US" altLang="ko-KR" dirty="0" err="1"/>
              <a:t>glVertexAttribPointer</a:t>
            </a:r>
            <a:r>
              <a:rPr lang="en-US" altLang="ko-KR" dirty="0"/>
              <a:t>(id1, 3, GL_FLOAT, GL_FALSE, 0, 0);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64594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shader</a:t>
            </a:r>
            <a:r>
              <a:rPr lang="en-US" altLang="ko-KR" dirty="0"/>
              <a:t> </a:t>
            </a:r>
            <a:r>
              <a:rPr lang="ko-KR" altLang="en-US" dirty="0"/>
              <a:t>외부 입력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5262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외부 입력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2063552" y="1700808"/>
            <a:ext cx="8033202" cy="1224136"/>
            <a:chOff x="671042" y="4581128"/>
            <a:chExt cx="7790243" cy="1224136"/>
          </a:xfrm>
        </p:grpSpPr>
        <p:sp>
          <p:nvSpPr>
            <p:cNvPr id="4" name="모서리가 둥근 직사각형 3"/>
            <p:cNvSpPr/>
            <p:nvPr/>
          </p:nvSpPr>
          <p:spPr>
            <a:xfrm>
              <a:off x="671042" y="4581128"/>
              <a:ext cx="1368152" cy="122413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Vertex Shader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모서리가 둥근 직사각형 4"/>
            <p:cNvSpPr/>
            <p:nvPr/>
          </p:nvSpPr>
          <p:spPr>
            <a:xfrm>
              <a:off x="2200897" y="4581128"/>
              <a:ext cx="1368152" cy="1224136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Primitive Assembly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모서리가 둥근 직사각형 5"/>
            <p:cNvSpPr/>
            <p:nvPr/>
          </p:nvSpPr>
          <p:spPr>
            <a:xfrm>
              <a:off x="3723234" y="4581128"/>
              <a:ext cx="1700336" cy="1224136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Rasterization</a:t>
              </a:r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and Interpolation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7" name="모서리가 둥근 직사각형 6"/>
            <p:cNvSpPr/>
            <p:nvPr/>
          </p:nvSpPr>
          <p:spPr>
            <a:xfrm>
              <a:off x="5586348" y="4581128"/>
              <a:ext cx="1359768" cy="122413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Fragment Shader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모서리가 둥근 직사각형 7"/>
            <p:cNvSpPr/>
            <p:nvPr/>
          </p:nvSpPr>
          <p:spPr>
            <a:xfrm>
              <a:off x="7101517" y="4581128"/>
              <a:ext cx="1359768" cy="1224136"/>
            </a:xfrm>
            <a:prstGeom prst="round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Frame Buffer</a:t>
              </a:r>
              <a:endPara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오른쪽 화살표 8"/>
            <p:cNvSpPr/>
            <p:nvPr/>
          </p:nvSpPr>
          <p:spPr>
            <a:xfrm>
              <a:off x="2057667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오른쪽 화살표 9"/>
            <p:cNvSpPr/>
            <p:nvPr/>
          </p:nvSpPr>
          <p:spPr>
            <a:xfrm>
              <a:off x="3579873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1" name="오른쪽 화살표 10"/>
            <p:cNvSpPr/>
            <p:nvPr/>
          </p:nvSpPr>
          <p:spPr>
            <a:xfrm>
              <a:off x="5442044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오른쪽 화살표 11"/>
            <p:cNvSpPr/>
            <p:nvPr/>
          </p:nvSpPr>
          <p:spPr>
            <a:xfrm>
              <a:off x="6955352" y="4941168"/>
              <a:ext cx="144016" cy="504056"/>
            </a:xfrm>
            <a:prstGeom prst="right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3719736" y="4797154"/>
            <a:ext cx="3672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외부</a:t>
            </a:r>
            <a:r>
              <a:rPr lang="en-US" altLang="ko-KR" dirty="0"/>
              <a:t> </a:t>
            </a:r>
            <a:r>
              <a:rPr lang="ko-KR" altLang="en-US" dirty="0"/>
              <a:t>입력 변수</a:t>
            </a:r>
            <a:endParaRPr lang="en-US" altLang="ko-KR" dirty="0"/>
          </a:p>
          <a:p>
            <a:pPr marL="285750" indent="-285750" algn="ctr">
              <a:buFontTx/>
              <a:buChar char="-"/>
            </a:pPr>
            <a:r>
              <a:rPr lang="ko-KR" altLang="en-US" dirty="0"/>
              <a:t>시간에 관계된 변수</a:t>
            </a:r>
            <a:endParaRPr lang="en-US" altLang="ko-KR" dirty="0"/>
          </a:p>
          <a:p>
            <a:pPr marL="285750" indent="-285750" algn="ctr">
              <a:buFontTx/>
              <a:buChar char="-"/>
            </a:pPr>
            <a:r>
              <a:rPr lang="ko-KR" altLang="en-US" dirty="0"/>
              <a:t>가중치에 관계된 변수</a:t>
            </a:r>
            <a:endParaRPr lang="en-US" altLang="ko-KR" dirty="0"/>
          </a:p>
          <a:p>
            <a:pPr marL="285750" indent="-285750" algn="ctr">
              <a:buFontTx/>
              <a:buChar char="-"/>
            </a:pPr>
            <a:r>
              <a:rPr lang="ko-KR" altLang="en-US" dirty="0"/>
              <a:t>기타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cxnSp>
        <p:nvCxnSpPr>
          <p:cNvPr id="15" name="꺾인 연결선 14"/>
          <p:cNvCxnSpPr>
            <a:stCxn id="13" idx="0"/>
            <a:endCxn id="4" idx="2"/>
          </p:cNvCxnSpPr>
          <p:nvPr/>
        </p:nvCxnSpPr>
        <p:spPr>
          <a:xfrm rot="16200000" flipV="1">
            <a:off x="3226349" y="2467561"/>
            <a:ext cx="1872209" cy="278697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연결선 16"/>
          <p:cNvCxnSpPr>
            <a:stCxn id="13" idx="0"/>
            <a:endCxn id="7" idx="2"/>
          </p:cNvCxnSpPr>
          <p:nvPr/>
        </p:nvCxnSpPr>
        <p:spPr>
          <a:xfrm rot="5400000" flipH="1" flipV="1">
            <a:off x="5758488" y="2722399"/>
            <a:ext cx="1872209" cy="227730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0497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외부 입력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uniform </a:t>
            </a:r>
            <a:r>
              <a:rPr lang="ko-KR" altLang="en-US" dirty="0" err="1"/>
              <a:t>선언자</a:t>
            </a:r>
            <a:r>
              <a:rPr lang="ko-KR" altLang="en-US" dirty="0"/>
              <a:t> 사용</a:t>
            </a:r>
            <a:endParaRPr lang="en-US" altLang="ko-KR" dirty="0"/>
          </a:p>
          <a:p>
            <a:pPr lvl="1"/>
            <a:r>
              <a:rPr lang="en-US" altLang="ko-KR" dirty="0"/>
              <a:t>uniform </a:t>
            </a:r>
            <a:r>
              <a:rPr lang="ko-KR" altLang="en-US" dirty="0"/>
              <a:t>으로 선언된 변수는 외부에서 입력된 값을 가지고 있으며 </a:t>
            </a:r>
            <a:r>
              <a:rPr lang="ko-KR" altLang="en-US" dirty="0" err="1"/>
              <a:t>셰이더</a:t>
            </a:r>
            <a:r>
              <a:rPr lang="ko-KR" altLang="en-US" dirty="0"/>
              <a:t> 내부에선 읽기만 가능하고 쓰기는 불가능 함</a:t>
            </a:r>
            <a:endParaRPr lang="en-US" altLang="ko-KR" dirty="0"/>
          </a:p>
          <a:p>
            <a:pPr lvl="1"/>
            <a:r>
              <a:rPr lang="ko-KR" altLang="en-US"/>
              <a:t>셰이더</a:t>
            </a:r>
            <a:r>
              <a:rPr lang="en-US" altLang="ko-KR" dirty="0"/>
              <a:t> </a:t>
            </a:r>
            <a:r>
              <a:rPr lang="ko-KR" altLang="en-US" dirty="0"/>
              <a:t>전반에 걸쳐 읽기가 가능함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89836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609600" y="1628800"/>
            <a:ext cx="8654752" cy="42484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외부 입력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layout (location = 0) in vec3 Position;</a:t>
            </a:r>
          </a:p>
          <a:p>
            <a:pPr marL="0" indent="0">
              <a:buNone/>
            </a:pPr>
            <a:endParaRPr lang="ko-KR" altLang="en-US" sz="1800" dirty="0"/>
          </a:p>
          <a:p>
            <a:pPr marL="0" indent="0">
              <a:buNone/>
            </a:pPr>
            <a:r>
              <a:rPr lang="en-US" altLang="ko-KR" sz="1800" dirty="0"/>
              <a:t>uniform float </a:t>
            </a:r>
            <a:r>
              <a:rPr lang="en-US" altLang="ko-KR" sz="1800" dirty="0" err="1"/>
              <a:t>gScale</a:t>
            </a:r>
            <a:r>
              <a:rPr lang="en-US" altLang="ko-KR" sz="1800" dirty="0"/>
              <a:t>; //</a:t>
            </a:r>
            <a:r>
              <a:rPr lang="ko-KR" altLang="en-US" sz="1800" dirty="0"/>
              <a:t>외부에서 값을 넘겨받음</a:t>
            </a:r>
            <a:endParaRPr lang="en-US" altLang="ko-KR" sz="1800" dirty="0"/>
          </a:p>
          <a:p>
            <a:pPr marL="0" indent="0">
              <a:buNone/>
            </a:pPr>
            <a:endParaRPr lang="ko-KR" altLang="en-US" sz="1800" dirty="0"/>
          </a:p>
          <a:p>
            <a:pPr marL="0" indent="0">
              <a:buNone/>
            </a:pPr>
            <a:r>
              <a:rPr lang="en-US" altLang="ko-KR" sz="1800" dirty="0"/>
              <a:t>void main()</a:t>
            </a:r>
          </a:p>
          <a:p>
            <a:pPr marL="0" indent="0">
              <a:buNone/>
            </a:pPr>
            <a:r>
              <a:rPr lang="en-US" altLang="ko-KR" sz="1800" dirty="0"/>
              <a:t>{</a:t>
            </a:r>
          </a:p>
          <a:p>
            <a:pPr marL="0" indent="0">
              <a:buNone/>
            </a:pPr>
            <a:r>
              <a:rPr lang="fr-FR" altLang="ko-KR" sz="1800" dirty="0"/>
              <a:t>    gl_Position = vec4(gScale * Position.x, gScale * Position.y, Position.z, 1.0);</a:t>
            </a:r>
          </a:p>
          <a:p>
            <a:pPr marL="0" indent="0">
              <a:buNone/>
            </a:pPr>
            <a:r>
              <a:rPr lang="en-US" altLang="ko-KR" sz="1800" dirty="0"/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76146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외부 입력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ko-KR" sz="2400" dirty="0" err="1"/>
              <a:t>GLint</a:t>
            </a:r>
            <a:r>
              <a:rPr lang="en-US" altLang="ko-KR" sz="2400" dirty="0"/>
              <a:t> </a:t>
            </a:r>
            <a:r>
              <a:rPr lang="en-US" altLang="ko-KR" sz="2400" dirty="0" err="1"/>
              <a:t>glGetUniformLocation</a:t>
            </a:r>
            <a:r>
              <a:rPr lang="en-US" altLang="ko-KR" sz="2400" dirty="0"/>
              <a:t>(</a:t>
            </a:r>
            <a:r>
              <a:rPr lang="en-US" altLang="ko-KR" sz="2400" dirty="0" err="1"/>
              <a:t>GLuint</a:t>
            </a:r>
            <a:r>
              <a:rPr lang="en-US" altLang="ko-KR" sz="2400" dirty="0"/>
              <a:t> program, </a:t>
            </a:r>
            <a:r>
              <a:rPr lang="en-US" altLang="ko-KR" sz="2400" dirty="0" err="1"/>
              <a:t>const</a:t>
            </a:r>
            <a:r>
              <a:rPr lang="en-US" altLang="ko-KR" sz="2400" dirty="0"/>
              <a:t> char* name);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 err="1"/>
              <a:t>GLint</a:t>
            </a:r>
            <a:r>
              <a:rPr lang="en-US" altLang="ko-KR" sz="2400" dirty="0"/>
              <a:t> id = </a:t>
            </a:r>
            <a:r>
              <a:rPr lang="en-US" altLang="ko-KR" sz="2400" dirty="0" err="1"/>
              <a:t>glGetUniformLocation</a:t>
            </a:r>
            <a:r>
              <a:rPr lang="en-US" altLang="ko-KR" sz="2400" dirty="0"/>
              <a:t>(program, “</a:t>
            </a:r>
            <a:r>
              <a:rPr lang="en-US" altLang="ko-KR" sz="2400" dirty="0" err="1"/>
              <a:t>gScale</a:t>
            </a:r>
            <a:r>
              <a:rPr lang="en-US" altLang="ko-KR" sz="2400" dirty="0"/>
              <a:t>”);</a:t>
            </a:r>
          </a:p>
          <a:p>
            <a:endParaRPr lang="ko-KR" altLang="en-US" sz="2400" dirty="0"/>
          </a:p>
        </p:txBody>
      </p:sp>
      <p:sp>
        <p:nvSpPr>
          <p:cNvPr id="4" name="직사각형 3"/>
          <p:cNvSpPr/>
          <p:nvPr/>
        </p:nvSpPr>
        <p:spPr>
          <a:xfrm>
            <a:off x="2135560" y="2708920"/>
            <a:ext cx="828092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layout (location = 0) in vec3 Position;</a:t>
            </a:r>
          </a:p>
          <a:p>
            <a:endParaRPr lang="ko-KR" altLang="en-US" dirty="0"/>
          </a:p>
          <a:p>
            <a:r>
              <a:rPr lang="en-US" altLang="ko-KR" dirty="0"/>
              <a:t>uniform float </a:t>
            </a:r>
            <a:r>
              <a:rPr lang="en-US" altLang="ko-KR" dirty="0" err="1"/>
              <a:t>gScale</a:t>
            </a:r>
            <a:r>
              <a:rPr lang="en-US" altLang="ko-KR" dirty="0"/>
              <a:t>; //</a:t>
            </a:r>
            <a:r>
              <a:rPr lang="ko-KR" altLang="en-US" dirty="0"/>
              <a:t>외부에서 값을 넘겨받음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/>
              <a:t>void main()</a:t>
            </a:r>
          </a:p>
          <a:p>
            <a:r>
              <a:rPr lang="en-US" altLang="ko-KR" dirty="0"/>
              <a:t>{</a:t>
            </a:r>
          </a:p>
          <a:p>
            <a:r>
              <a:rPr lang="fr-FR" altLang="ko-KR" dirty="0"/>
              <a:t>    gl_Position = vec4(gScale * Position.x, gScale * Position.y, Position.z, 1.0);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160738" y="2692524"/>
            <a:ext cx="7967711" cy="23247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574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외부 입력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ko-KR" sz="2000" dirty="0"/>
              <a:t>void </a:t>
            </a:r>
            <a:r>
              <a:rPr lang="en-US" altLang="ko-KR" sz="2000" dirty="0" err="1"/>
              <a:t>glUniform</a:t>
            </a:r>
            <a:r>
              <a:rPr lang="en-US" altLang="ko-KR" sz="2000" dirty="0"/>
              <a:t>{1234}{</a:t>
            </a:r>
            <a:r>
              <a:rPr lang="en-US" altLang="ko-KR" sz="2000" dirty="0" err="1"/>
              <a:t>fdi</a:t>
            </a:r>
            <a:r>
              <a:rPr lang="en-US" altLang="ko-KR" sz="2000" dirty="0"/>
              <a:t> </a:t>
            </a:r>
            <a:r>
              <a:rPr lang="en-US" altLang="ko-KR" sz="2000" dirty="0" err="1"/>
              <a:t>ui</a:t>
            </a:r>
            <a:r>
              <a:rPr lang="en-US" altLang="ko-KR" sz="2000" dirty="0"/>
              <a:t>}(</a:t>
            </a:r>
            <a:r>
              <a:rPr lang="en-US" altLang="ko-KR" sz="2000" dirty="0" err="1"/>
              <a:t>GLint</a:t>
            </a:r>
            <a:r>
              <a:rPr lang="en-US" altLang="ko-KR" sz="2000" dirty="0"/>
              <a:t> location, TYPE value); </a:t>
            </a:r>
          </a:p>
          <a:p>
            <a:endParaRPr lang="en-US" altLang="ko-KR" sz="2000" dirty="0"/>
          </a:p>
          <a:p>
            <a:r>
              <a:rPr lang="en-US" altLang="ko-KR" sz="2000" dirty="0"/>
              <a:t>void </a:t>
            </a:r>
            <a:r>
              <a:rPr lang="en-US" altLang="ko-KR" sz="2000" dirty="0" err="1"/>
              <a:t>glUniform</a:t>
            </a:r>
            <a:r>
              <a:rPr lang="en-US" altLang="ko-KR" sz="2000" dirty="0"/>
              <a:t>{1234}{</a:t>
            </a:r>
            <a:r>
              <a:rPr lang="en-US" altLang="ko-KR" sz="2000" dirty="0" err="1"/>
              <a:t>fdi</a:t>
            </a:r>
            <a:r>
              <a:rPr lang="en-US" altLang="ko-KR" sz="2000" dirty="0"/>
              <a:t> </a:t>
            </a:r>
            <a:r>
              <a:rPr lang="en-US" altLang="ko-KR" sz="2000" dirty="0" err="1"/>
              <a:t>ui</a:t>
            </a:r>
            <a:r>
              <a:rPr lang="en-US" altLang="ko-KR" sz="2000" dirty="0"/>
              <a:t>}v(</a:t>
            </a:r>
            <a:r>
              <a:rPr lang="en-US" altLang="ko-KR" sz="2000" dirty="0" err="1"/>
              <a:t>GLint</a:t>
            </a:r>
            <a:r>
              <a:rPr lang="en-US" altLang="ko-KR" sz="2000" dirty="0"/>
              <a:t> location, </a:t>
            </a:r>
            <a:r>
              <a:rPr lang="en-US" altLang="ko-KR" sz="2000" dirty="0" err="1"/>
              <a:t>GLsizei</a:t>
            </a:r>
            <a:r>
              <a:rPr lang="en-US" altLang="ko-KR" sz="2000" dirty="0"/>
              <a:t> count, </a:t>
            </a:r>
            <a:r>
              <a:rPr lang="en-US" altLang="ko-KR" sz="2000" dirty="0" err="1"/>
              <a:t>const</a:t>
            </a:r>
            <a:r>
              <a:rPr lang="en-US" altLang="ko-KR" sz="2000" dirty="0"/>
              <a:t> TYPE * values); </a:t>
            </a:r>
          </a:p>
          <a:p>
            <a:endParaRPr lang="en-US" altLang="ko-KR" sz="2000" dirty="0"/>
          </a:p>
          <a:p>
            <a:r>
              <a:rPr lang="en-US" altLang="ko-KR" sz="2000" dirty="0"/>
              <a:t>void </a:t>
            </a:r>
            <a:r>
              <a:rPr lang="en-US" altLang="ko-KR" sz="2000" dirty="0" err="1"/>
              <a:t>glUniformMatrix</a:t>
            </a:r>
            <a:r>
              <a:rPr lang="en-US" altLang="ko-KR" sz="2000" dirty="0"/>
              <a:t>{234}{</a:t>
            </a:r>
            <a:r>
              <a:rPr lang="en-US" altLang="ko-KR" sz="2000" dirty="0" err="1"/>
              <a:t>fd</a:t>
            </a:r>
            <a:r>
              <a:rPr lang="en-US" altLang="ko-KR" sz="2000" dirty="0"/>
              <a:t>}v(</a:t>
            </a:r>
            <a:r>
              <a:rPr lang="en-US" altLang="ko-KR" sz="2000" dirty="0" err="1"/>
              <a:t>GLint</a:t>
            </a:r>
            <a:r>
              <a:rPr lang="en-US" altLang="ko-KR" sz="2000" dirty="0"/>
              <a:t> location, </a:t>
            </a:r>
            <a:r>
              <a:rPr lang="en-US" altLang="ko-KR" sz="2000" dirty="0" err="1"/>
              <a:t>GLsizei</a:t>
            </a:r>
            <a:r>
              <a:rPr lang="en-US" altLang="ko-KR" sz="2000" dirty="0"/>
              <a:t> count, </a:t>
            </a:r>
            <a:r>
              <a:rPr lang="en-US" altLang="ko-KR" sz="2000" dirty="0" err="1"/>
              <a:t>GLboolean</a:t>
            </a:r>
            <a:r>
              <a:rPr lang="en-US" altLang="ko-KR" sz="2000" dirty="0"/>
              <a:t> transpose, </a:t>
            </a:r>
            <a:r>
              <a:rPr lang="en-US" altLang="ko-KR" sz="2000" dirty="0" err="1"/>
              <a:t>const</a:t>
            </a:r>
            <a:r>
              <a:rPr lang="en-US" altLang="ko-KR" sz="2000" dirty="0"/>
              <a:t> </a:t>
            </a:r>
            <a:r>
              <a:rPr lang="en-US" altLang="ko-KR" sz="2000" dirty="0" err="1"/>
              <a:t>GLfloat</a:t>
            </a:r>
            <a:r>
              <a:rPr lang="en-US" altLang="ko-KR" sz="2000" dirty="0"/>
              <a:t> * values); </a:t>
            </a:r>
          </a:p>
          <a:p>
            <a:endParaRPr lang="en-US" altLang="ko-KR" sz="2000" dirty="0"/>
          </a:p>
          <a:p>
            <a:r>
              <a:rPr lang="en-US" altLang="ko-KR" sz="2000" dirty="0"/>
              <a:t>void </a:t>
            </a:r>
            <a:r>
              <a:rPr lang="en-US" altLang="ko-KR" sz="2000" dirty="0" err="1"/>
              <a:t>glUniformMatrix</a:t>
            </a:r>
            <a:r>
              <a:rPr lang="en-US" altLang="ko-KR" sz="2000" dirty="0"/>
              <a:t>{2x3,2x4,3x2,3x4,4x2,4x3}{</a:t>
            </a:r>
            <a:r>
              <a:rPr lang="en-US" altLang="ko-KR" sz="2000" dirty="0" err="1"/>
              <a:t>fd</a:t>
            </a:r>
            <a:r>
              <a:rPr lang="en-US" altLang="ko-KR" sz="2000" dirty="0"/>
              <a:t>}v( </a:t>
            </a:r>
            <a:r>
              <a:rPr lang="en-US" altLang="ko-KR" sz="2000" dirty="0" err="1"/>
              <a:t>GLint</a:t>
            </a:r>
            <a:r>
              <a:rPr lang="en-US" altLang="ko-KR" sz="2000" dirty="0"/>
              <a:t> location, </a:t>
            </a:r>
            <a:r>
              <a:rPr lang="en-US" altLang="ko-KR" sz="2000" dirty="0" err="1"/>
              <a:t>GLsizei</a:t>
            </a:r>
            <a:r>
              <a:rPr lang="en-US" altLang="ko-KR" sz="2000" dirty="0"/>
              <a:t> count, </a:t>
            </a:r>
            <a:r>
              <a:rPr lang="en-US" altLang="ko-KR" sz="2000" dirty="0" err="1"/>
              <a:t>GLboolean</a:t>
            </a:r>
            <a:r>
              <a:rPr lang="en-US" altLang="ko-KR" sz="2000" dirty="0"/>
              <a:t> transpose, </a:t>
            </a:r>
            <a:r>
              <a:rPr lang="en-US" altLang="ko-KR" sz="2000" dirty="0" err="1"/>
              <a:t>const</a:t>
            </a:r>
            <a:r>
              <a:rPr lang="en-US" altLang="ko-KR" sz="2000" dirty="0"/>
              <a:t> </a:t>
            </a:r>
            <a:r>
              <a:rPr lang="en-US" altLang="ko-KR" sz="2000" dirty="0" err="1"/>
              <a:t>GLfloat</a:t>
            </a:r>
            <a:r>
              <a:rPr lang="en-US" altLang="ko-KR" sz="2000" dirty="0"/>
              <a:t> * values);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75898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외부 입력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 err="1"/>
              <a:t>GLint</a:t>
            </a:r>
            <a:r>
              <a:rPr lang="en-US" altLang="ko-KR" sz="2400" dirty="0"/>
              <a:t> id = </a:t>
            </a:r>
            <a:r>
              <a:rPr lang="en-US" altLang="ko-KR" sz="2400" dirty="0" err="1"/>
              <a:t>glGetUniformLocation</a:t>
            </a:r>
            <a:r>
              <a:rPr lang="en-US" altLang="ko-KR" sz="2400" dirty="0"/>
              <a:t>(program, “</a:t>
            </a:r>
            <a:r>
              <a:rPr lang="en-US" altLang="ko-KR" sz="2400" dirty="0" err="1"/>
              <a:t>gScale</a:t>
            </a:r>
            <a:r>
              <a:rPr lang="en-US" altLang="ko-KR" sz="2400" dirty="0"/>
              <a:t>”);</a:t>
            </a:r>
          </a:p>
          <a:p>
            <a:r>
              <a:rPr lang="en-US" altLang="ko-KR" sz="2400" dirty="0"/>
              <a:t>glUniform1f(id, 0.5f);</a:t>
            </a:r>
          </a:p>
          <a:p>
            <a:endParaRPr lang="ko-KR" altLang="en-US" sz="2400" dirty="0"/>
          </a:p>
        </p:txBody>
      </p:sp>
      <p:sp>
        <p:nvSpPr>
          <p:cNvPr id="4" name="직사각형 3"/>
          <p:cNvSpPr/>
          <p:nvPr/>
        </p:nvSpPr>
        <p:spPr>
          <a:xfrm>
            <a:off x="2112143" y="2116658"/>
            <a:ext cx="828092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layout (location = 0) in vec3 Position;</a:t>
            </a:r>
          </a:p>
          <a:p>
            <a:endParaRPr lang="ko-KR" altLang="en-US" dirty="0"/>
          </a:p>
          <a:p>
            <a:r>
              <a:rPr lang="en-US" altLang="ko-KR" dirty="0"/>
              <a:t>uniform float </a:t>
            </a:r>
            <a:r>
              <a:rPr lang="en-US" altLang="ko-KR" dirty="0" err="1"/>
              <a:t>gScale</a:t>
            </a:r>
            <a:r>
              <a:rPr lang="en-US" altLang="ko-KR" dirty="0"/>
              <a:t>; //</a:t>
            </a:r>
            <a:r>
              <a:rPr lang="ko-KR" altLang="en-US" dirty="0"/>
              <a:t>외부에서 값을 넘겨받음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/>
              <a:t>void main()</a:t>
            </a:r>
          </a:p>
          <a:p>
            <a:r>
              <a:rPr lang="en-US" altLang="ko-KR" dirty="0"/>
              <a:t>{</a:t>
            </a:r>
          </a:p>
          <a:p>
            <a:r>
              <a:rPr lang="fr-FR" altLang="ko-KR" dirty="0"/>
              <a:t>    gl_Position = vec4(gScale * Position.x, gScale * Position.y, Position.z, 1.0);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112144" y="2116658"/>
            <a:ext cx="7967711" cy="23247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8053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컴파일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2180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컴파일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631504" y="2085297"/>
            <a:ext cx="8928991" cy="3744416"/>
            <a:chOff x="107504" y="1502618"/>
            <a:chExt cx="8928991" cy="3744416"/>
          </a:xfrm>
        </p:grpSpPr>
        <p:sp>
          <p:nvSpPr>
            <p:cNvPr id="8" name="직사각형 7"/>
            <p:cNvSpPr/>
            <p:nvPr/>
          </p:nvSpPr>
          <p:spPr>
            <a:xfrm>
              <a:off x="107504" y="1502618"/>
              <a:ext cx="8928991" cy="374441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361361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Vertex Shader</a:t>
              </a:r>
              <a:endParaRPr lang="ko-KR" altLang="en-US" dirty="0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123728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…</a:t>
              </a:r>
              <a:endParaRPr lang="ko-KR" altLang="en-US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878485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…</a:t>
              </a:r>
              <a:endParaRPr lang="ko-KR" altLang="en-US" dirty="0"/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5652120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…</a:t>
              </a:r>
              <a:endParaRPr lang="ko-KR" altLang="en-US" dirty="0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7380312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Fragment Shader</a:t>
              </a:r>
              <a:endParaRPr lang="ko-KR" altLang="en-US" dirty="0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07504" y="1502618"/>
              <a:ext cx="8928991" cy="5311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Shader Program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179716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/>
          <p:cNvGrpSpPr/>
          <p:nvPr/>
        </p:nvGrpSpPr>
        <p:grpSpPr>
          <a:xfrm>
            <a:off x="7392145" y="2236339"/>
            <a:ext cx="3218707" cy="1877707"/>
            <a:chOff x="107504" y="1502618"/>
            <a:chExt cx="8928991" cy="3744416"/>
          </a:xfrm>
        </p:grpSpPr>
        <p:sp>
          <p:nvSpPr>
            <p:cNvPr id="26" name="직사각형 25"/>
            <p:cNvSpPr/>
            <p:nvPr/>
          </p:nvSpPr>
          <p:spPr>
            <a:xfrm>
              <a:off x="107504" y="1502618"/>
              <a:ext cx="8928991" cy="374441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700"/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361361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Vertex Shader</a:t>
              </a:r>
              <a:endParaRPr lang="ko-KR" altLang="en-US" sz="700" dirty="0"/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2123728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…</a:t>
              </a:r>
              <a:endParaRPr lang="ko-KR" altLang="en-US" sz="700" dirty="0"/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3878485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…</a:t>
              </a:r>
              <a:endParaRPr lang="ko-KR" altLang="en-US" sz="700" dirty="0"/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5652120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…</a:t>
              </a:r>
              <a:endParaRPr lang="ko-KR" altLang="en-US" sz="700" dirty="0"/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7380312" y="2393801"/>
              <a:ext cx="1387028" cy="25202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/>
                <a:t>Fragment Shader</a:t>
              </a:r>
              <a:endParaRPr lang="ko-KR" altLang="en-US" sz="700" dirty="0"/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07504" y="1502618"/>
              <a:ext cx="8928991" cy="5311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Shader Program</a:t>
              </a:r>
              <a:endParaRPr lang="ko-KR" altLang="en-US" sz="1000" dirty="0"/>
            </a:p>
          </p:txBody>
        </p:sp>
      </p:grpSp>
      <p:sp>
        <p:nvSpPr>
          <p:cNvPr id="16" name="직사각형 15"/>
          <p:cNvSpPr/>
          <p:nvPr/>
        </p:nvSpPr>
        <p:spPr>
          <a:xfrm>
            <a:off x="1775520" y="2858928"/>
            <a:ext cx="5544616" cy="3738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컴파일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5520" y="2858927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1. Shader Object </a:t>
            </a:r>
            <a:r>
              <a:rPr lang="ko-KR" altLang="en-US" dirty="0">
                <a:solidFill>
                  <a:schemeClr val="bg1"/>
                </a:solidFill>
              </a:rPr>
              <a:t>생성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063552" y="3228259"/>
            <a:ext cx="58681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GLuint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en-US" altLang="ko-KR" dirty="0" err="1">
                <a:solidFill>
                  <a:schemeClr val="bg1"/>
                </a:solidFill>
              </a:rPr>
              <a:t>ShaderObj</a:t>
            </a:r>
            <a:r>
              <a:rPr lang="en-US" altLang="ko-KR" dirty="0">
                <a:solidFill>
                  <a:schemeClr val="bg1"/>
                </a:solidFill>
              </a:rPr>
              <a:t> = </a:t>
            </a:r>
            <a:r>
              <a:rPr lang="en-US" altLang="ko-KR" dirty="0" err="1">
                <a:solidFill>
                  <a:schemeClr val="bg1"/>
                </a:solidFill>
              </a:rPr>
              <a:t>glCreateShader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ShaderType</a:t>
            </a:r>
            <a:r>
              <a:rPr lang="en-US" altLang="ko-KR" dirty="0">
                <a:solidFill>
                  <a:schemeClr val="bg1"/>
                </a:solidFill>
              </a:rPr>
              <a:t>);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096000" y="1268761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/>
              <a:t>#define GL_FRAGMENT_SHADER</a:t>
            </a:r>
          </a:p>
          <a:p>
            <a:r>
              <a:rPr lang="en-US" altLang="ko-KR" dirty="0"/>
              <a:t>#define GL_VERTEX_SHADER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775520" y="3929380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2. Object </a:t>
            </a:r>
            <a:r>
              <a:rPr lang="ko-KR" altLang="en-US" dirty="0">
                <a:solidFill>
                  <a:schemeClr val="bg1"/>
                </a:solidFill>
              </a:rPr>
              <a:t>에 </a:t>
            </a:r>
            <a:r>
              <a:rPr lang="en-US" altLang="ko-KR" dirty="0">
                <a:solidFill>
                  <a:schemeClr val="bg1"/>
                </a:solidFill>
              </a:rPr>
              <a:t>Source </a:t>
            </a:r>
            <a:r>
              <a:rPr lang="ko-KR" altLang="en-US" dirty="0">
                <a:solidFill>
                  <a:schemeClr val="bg1"/>
                </a:solidFill>
              </a:rPr>
              <a:t>할당 및 컴파일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063552" y="4298713"/>
            <a:ext cx="58681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glShaderSource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ShaderObj</a:t>
            </a:r>
            <a:r>
              <a:rPr lang="en-US" altLang="ko-KR" dirty="0">
                <a:solidFill>
                  <a:schemeClr val="bg1"/>
                </a:solidFill>
              </a:rPr>
              <a:t>, 1, p, Lengths);</a:t>
            </a:r>
          </a:p>
          <a:p>
            <a:r>
              <a:rPr lang="en-US" altLang="ko-KR" dirty="0" err="1">
                <a:solidFill>
                  <a:schemeClr val="bg1"/>
                </a:solidFill>
              </a:rPr>
              <a:t>glCompileShader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ShaderObj</a:t>
            </a:r>
            <a:r>
              <a:rPr lang="en-US" altLang="ko-KR" dirty="0">
                <a:solidFill>
                  <a:schemeClr val="bg1"/>
                </a:solidFill>
              </a:rPr>
              <a:t>);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063552" y="6084748"/>
            <a:ext cx="640871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glAttachShader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ShaderProgram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en-US" altLang="ko-KR" dirty="0" err="1">
                <a:solidFill>
                  <a:schemeClr val="bg1"/>
                </a:solidFill>
              </a:rPr>
              <a:t>ShaderObj</a:t>
            </a:r>
            <a:r>
              <a:rPr lang="en-US" altLang="ko-KR" dirty="0">
                <a:solidFill>
                  <a:schemeClr val="bg1"/>
                </a:solidFill>
              </a:rPr>
              <a:t>);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75520" y="1899528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0. Shader Program </a:t>
            </a:r>
            <a:r>
              <a:rPr lang="ko-KR" altLang="en-US" dirty="0"/>
              <a:t>생성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2063552" y="2268860"/>
            <a:ext cx="58681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/>
              <a:t>GLuint</a:t>
            </a:r>
            <a:r>
              <a:rPr lang="en-US" altLang="ko-KR" dirty="0"/>
              <a:t> </a:t>
            </a:r>
            <a:r>
              <a:rPr lang="en-US" altLang="ko-KR" dirty="0" err="1"/>
              <a:t>ShaderProgram</a:t>
            </a:r>
            <a:r>
              <a:rPr lang="en-US" altLang="ko-KR" dirty="0"/>
              <a:t> = </a:t>
            </a:r>
            <a:r>
              <a:rPr lang="en-US" altLang="ko-KR" dirty="0" err="1"/>
              <a:t>glCreateProgram</a:t>
            </a:r>
            <a:r>
              <a:rPr lang="en-US" altLang="ko-KR" dirty="0"/>
              <a:t>();</a:t>
            </a:r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795761" y="5715416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3. Shader Program </a:t>
            </a:r>
            <a:r>
              <a:rPr lang="ko-KR" altLang="en-US" dirty="0">
                <a:solidFill>
                  <a:schemeClr val="bg1"/>
                </a:solidFill>
              </a:rPr>
              <a:t>에 </a:t>
            </a:r>
            <a:r>
              <a:rPr lang="en-US" altLang="ko-KR" dirty="0">
                <a:solidFill>
                  <a:schemeClr val="bg1"/>
                </a:solidFill>
              </a:rPr>
              <a:t>Attach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775520" y="5069085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3. </a:t>
            </a:r>
            <a:r>
              <a:rPr lang="ko-KR" altLang="en-US" dirty="0">
                <a:solidFill>
                  <a:schemeClr val="bg1"/>
                </a:solidFill>
              </a:rPr>
              <a:t>컴파일 완료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4192" y="5238035"/>
            <a:ext cx="2843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Vertex Shader </a:t>
            </a:r>
            <a:r>
              <a:rPr lang="ko-KR" altLang="en-US" dirty="0"/>
              <a:t>및 </a:t>
            </a:r>
            <a:r>
              <a:rPr lang="en-US" altLang="ko-KR" dirty="0"/>
              <a:t>Fragment Shader Object </a:t>
            </a:r>
            <a:r>
              <a:rPr lang="ko-KR" altLang="en-US" dirty="0"/>
              <a:t>를 각각 생성 후 </a:t>
            </a:r>
            <a:r>
              <a:rPr lang="en-US" altLang="ko-KR" dirty="0"/>
              <a:t>Attach </a:t>
            </a:r>
            <a:r>
              <a:rPr lang="ko-KR" altLang="en-US" dirty="0"/>
              <a:t>함</a:t>
            </a:r>
          </a:p>
        </p:txBody>
      </p:sp>
      <p:cxnSp>
        <p:nvCxnSpPr>
          <p:cNvPr id="15" name="직선 화살표 연결선 14"/>
          <p:cNvCxnSpPr>
            <a:stCxn id="16" idx="3"/>
          </p:cNvCxnSpPr>
          <p:nvPr/>
        </p:nvCxnSpPr>
        <p:spPr>
          <a:xfrm flipV="1">
            <a:off x="7320136" y="3947080"/>
            <a:ext cx="413514" cy="781061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꺾인 연결선 19"/>
          <p:cNvCxnSpPr>
            <a:stCxn id="16" idx="3"/>
            <a:endCxn id="31" idx="2"/>
          </p:cNvCxnSpPr>
          <p:nvPr/>
        </p:nvCxnSpPr>
        <p:spPr>
          <a:xfrm flipV="1">
            <a:off x="7320136" y="3947080"/>
            <a:ext cx="2943694" cy="781061"/>
          </a:xfrm>
          <a:prstGeom prst="bentConnector2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4300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Shader </a:t>
            </a:r>
            <a:r>
              <a:rPr lang="ko-KR" altLang="en-US" dirty="0"/>
              <a:t>컴파일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dirty="0"/>
              <a:t>Attach </a:t>
            </a:r>
            <a:r>
              <a:rPr lang="ko-KR" altLang="en-US" dirty="0"/>
              <a:t>완료 후 링크 수행</a:t>
            </a:r>
            <a:endParaRPr lang="en-US" altLang="ko-KR" dirty="0"/>
          </a:p>
          <a:p>
            <a:pPr lvl="1"/>
            <a:r>
              <a:rPr lang="en-US" altLang="ko-KR" dirty="0" err="1"/>
              <a:t>glLinkProgram</a:t>
            </a:r>
            <a:r>
              <a:rPr lang="en-US" altLang="ko-KR" dirty="0"/>
              <a:t>(</a:t>
            </a:r>
            <a:r>
              <a:rPr lang="en-US" altLang="ko-KR" dirty="0" err="1"/>
              <a:t>ShaderProgram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ko-KR" altLang="en-US" dirty="0"/>
              <a:t>링크 완료 확인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성공적으로 링크가 끝났으면 사용 준비 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사용시 아래 아래 함수를 사전에 불러줘야 해당 </a:t>
            </a:r>
            <a:r>
              <a:rPr lang="en-US" altLang="ko-KR" dirty="0" err="1"/>
              <a:t>shader</a:t>
            </a:r>
            <a:r>
              <a:rPr lang="en-US" altLang="ko-KR" dirty="0"/>
              <a:t> </a:t>
            </a:r>
            <a:r>
              <a:rPr lang="ko-KR" altLang="en-US" dirty="0"/>
              <a:t>프로그램이 동작함</a:t>
            </a:r>
            <a:endParaRPr lang="en-US" altLang="ko-KR" dirty="0"/>
          </a:p>
          <a:p>
            <a:pPr lvl="1"/>
            <a:r>
              <a:rPr lang="en-US" altLang="ko-KR" dirty="0" err="1"/>
              <a:t>glUseProgram</a:t>
            </a:r>
            <a:r>
              <a:rPr lang="en-US" altLang="ko-KR" dirty="0"/>
              <a:t>(</a:t>
            </a:r>
            <a:r>
              <a:rPr lang="en-US" altLang="ko-KR" dirty="0" err="1"/>
              <a:t>GLuint</a:t>
            </a:r>
            <a:r>
              <a:rPr lang="en-US" altLang="ko-KR" dirty="0"/>
              <a:t> program);</a:t>
            </a:r>
          </a:p>
        </p:txBody>
      </p:sp>
    </p:spTree>
    <p:extLst>
      <p:ext uri="{BB962C8B-B14F-4D97-AF65-F5344CB8AC3E}">
        <p14:creationId xmlns:p14="http://schemas.microsoft.com/office/powerpoint/2010/main" val="3151081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C2414762-3A89-9933-4FEB-5A88C63FA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Test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4C4EB0-E99B-6F68-9C58-4BD6DCB88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930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E4DA-E1E4-12A3-E422-D269C38DA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A6B6226-8928-EE4C-A672-2A20BAC6AE9C}"/>
              </a:ext>
            </a:extLst>
          </p:cNvPr>
          <p:cNvSpPr/>
          <p:nvPr/>
        </p:nvSpPr>
        <p:spPr>
          <a:xfrm>
            <a:off x="3037491" y="3010090"/>
            <a:ext cx="288032" cy="2978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B9A6CF5-8FF6-3540-0A8C-8357253D10EF}"/>
              </a:ext>
            </a:extLst>
          </p:cNvPr>
          <p:cNvCxnSpPr>
            <a:stCxn id="4" idx="3"/>
          </p:cNvCxnSpPr>
          <p:nvPr/>
        </p:nvCxnSpPr>
        <p:spPr>
          <a:xfrm flipV="1">
            <a:off x="3325523" y="3140968"/>
            <a:ext cx="5866821" cy="180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950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C43803-767D-EAA2-A9B4-73B169CF0AA6}"/>
              </a:ext>
            </a:extLst>
          </p:cNvPr>
          <p:cNvSpPr/>
          <p:nvPr/>
        </p:nvSpPr>
        <p:spPr>
          <a:xfrm>
            <a:off x="3037491" y="3010090"/>
            <a:ext cx="288032" cy="2978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D96CB9BB-9A05-8F30-4EDB-A28B203F9C2F}"/>
              </a:ext>
            </a:extLst>
          </p:cNvPr>
          <p:cNvSpPr/>
          <p:nvPr/>
        </p:nvSpPr>
        <p:spPr>
          <a:xfrm>
            <a:off x="3181507" y="1380463"/>
            <a:ext cx="6075848" cy="3557114"/>
          </a:xfrm>
          <a:custGeom>
            <a:avLst/>
            <a:gdLst>
              <a:gd name="connsiteX0" fmla="*/ 0 w 6075848"/>
              <a:gd name="connsiteY0" fmla="*/ 1816158 h 3557114"/>
              <a:gd name="connsiteX1" fmla="*/ 1964827 w 6075848"/>
              <a:gd name="connsiteY1" fmla="*/ 47815 h 3557114"/>
              <a:gd name="connsiteX2" fmla="*/ 4103465 w 6075848"/>
              <a:gd name="connsiteY2" fmla="*/ 3516489 h 3557114"/>
              <a:gd name="connsiteX3" fmla="*/ 6075848 w 6075848"/>
              <a:gd name="connsiteY3" fmla="*/ 1634790 h 355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75848" h="3557114">
                <a:moveTo>
                  <a:pt x="0" y="1816158"/>
                </a:moveTo>
                <a:cubicBezTo>
                  <a:pt x="640458" y="790292"/>
                  <a:pt x="1280916" y="-235574"/>
                  <a:pt x="1964827" y="47815"/>
                </a:cubicBezTo>
                <a:cubicBezTo>
                  <a:pt x="2648738" y="331203"/>
                  <a:pt x="3418295" y="3251993"/>
                  <a:pt x="4103465" y="3516489"/>
                </a:cubicBezTo>
                <a:cubicBezTo>
                  <a:pt x="4788635" y="3780985"/>
                  <a:pt x="5432241" y="2707887"/>
                  <a:pt x="6075848" y="163479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4885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4EA5ED9-CD62-0D30-14EF-E65336C1B812}"/>
              </a:ext>
            </a:extLst>
          </p:cNvPr>
          <p:cNvSpPr/>
          <p:nvPr/>
        </p:nvSpPr>
        <p:spPr>
          <a:xfrm>
            <a:off x="3090580" y="3356992"/>
            <a:ext cx="288032" cy="2978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F858588-F060-FBDF-7749-66045E1D2CF2}"/>
              </a:ext>
            </a:extLst>
          </p:cNvPr>
          <p:cNvSpPr/>
          <p:nvPr/>
        </p:nvSpPr>
        <p:spPr>
          <a:xfrm>
            <a:off x="3234596" y="836712"/>
            <a:ext cx="5722807" cy="547260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09843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1140-B32D-8220-1EA6-EC25748DA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C66F263-9927-E0FF-A155-7891F0A96F77}"/>
              </a:ext>
            </a:extLst>
          </p:cNvPr>
          <p:cNvSpPr/>
          <p:nvPr/>
        </p:nvSpPr>
        <p:spPr>
          <a:xfrm>
            <a:off x="3073495" y="3054217"/>
            <a:ext cx="216024" cy="22585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55A6D43-3E72-530A-3DF0-5A920149A0F7}"/>
              </a:ext>
            </a:extLst>
          </p:cNvPr>
          <p:cNvSpPr/>
          <p:nvPr/>
        </p:nvSpPr>
        <p:spPr>
          <a:xfrm>
            <a:off x="4799856" y="2142825"/>
            <a:ext cx="288032" cy="2782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BB7AB5F3-6C07-5340-9CF8-2BA078B4BBE9}"/>
              </a:ext>
            </a:extLst>
          </p:cNvPr>
          <p:cNvSpPr/>
          <p:nvPr/>
        </p:nvSpPr>
        <p:spPr>
          <a:xfrm>
            <a:off x="3181507" y="1380463"/>
            <a:ext cx="6075848" cy="3557114"/>
          </a:xfrm>
          <a:custGeom>
            <a:avLst/>
            <a:gdLst>
              <a:gd name="connsiteX0" fmla="*/ 0 w 6075848"/>
              <a:gd name="connsiteY0" fmla="*/ 1816158 h 3557114"/>
              <a:gd name="connsiteX1" fmla="*/ 1964827 w 6075848"/>
              <a:gd name="connsiteY1" fmla="*/ 47815 h 3557114"/>
              <a:gd name="connsiteX2" fmla="*/ 4103465 w 6075848"/>
              <a:gd name="connsiteY2" fmla="*/ 3516489 h 3557114"/>
              <a:gd name="connsiteX3" fmla="*/ 6075848 w 6075848"/>
              <a:gd name="connsiteY3" fmla="*/ 1634790 h 355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75848" h="3557114">
                <a:moveTo>
                  <a:pt x="0" y="1816158"/>
                </a:moveTo>
                <a:cubicBezTo>
                  <a:pt x="640458" y="790292"/>
                  <a:pt x="1280916" y="-235574"/>
                  <a:pt x="1964827" y="47815"/>
                </a:cubicBezTo>
                <a:cubicBezTo>
                  <a:pt x="2648738" y="331203"/>
                  <a:pt x="3418295" y="3251993"/>
                  <a:pt x="4103465" y="3516489"/>
                </a:cubicBezTo>
                <a:cubicBezTo>
                  <a:pt x="4788635" y="3780985"/>
                  <a:pt x="5432241" y="2707887"/>
                  <a:pt x="6075848" y="163479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B3E3D7-30FF-F25C-ADF6-EB0593F4BEFD}"/>
              </a:ext>
            </a:extLst>
          </p:cNvPr>
          <p:cNvSpPr/>
          <p:nvPr/>
        </p:nvSpPr>
        <p:spPr>
          <a:xfrm>
            <a:off x="4799856" y="1260115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5BD2E6D6-C3B5-C698-7AE6-109CE434EE42}"/>
              </a:ext>
            </a:extLst>
          </p:cNvPr>
          <p:cNvSpPr/>
          <p:nvPr/>
        </p:nvSpPr>
        <p:spPr>
          <a:xfrm>
            <a:off x="3181507" y="2281927"/>
            <a:ext cx="6075848" cy="1770433"/>
          </a:xfrm>
          <a:custGeom>
            <a:avLst/>
            <a:gdLst>
              <a:gd name="connsiteX0" fmla="*/ 0 w 6075848"/>
              <a:gd name="connsiteY0" fmla="*/ 1816158 h 3557114"/>
              <a:gd name="connsiteX1" fmla="*/ 1964827 w 6075848"/>
              <a:gd name="connsiteY1" fmla="*/ 47815 h 3557114"/>
              <a:gd name="connsiteX2" fmla="*/ 4103465 w 6075848"/>
              <a:gd name="connsiteY2" fmla="*/ 3516489 h 3557114"/>
              <a:gd name="connsiteX3" fmla="*/ 6075848 w 6075848"/>
              <a:gd name="connsiteY3" fmla="*/ 1634790 h 355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75848" h="3557114">
                <a:moveTo>
                  <a:pt x="0" y="1816158"/>
                </a:moveTo>
                <a:cubicBezTo>
                  <a:pt x="640458" y="790292"/>
                  <a:pt x="1280916" y="-235574"/>
                  <a:pt x="1964827" y="47815"/>
                </a:cubicBezTo>
                <a:cubicBezTo>
                  <a:pt x="2648738" y="331203"/>
                  <a:pt x="3418295" y="3251993"/>
                  <a:pt x="4103465" y="3516489"/>
                </a:cubicBezTo>
                <a:cubicBezTo>
                  <a:pt x="4788635" y="3780985"/>
                  <a:pt x="5432241" y="2707887"/>
                  <a:pt x="6075848" y="163479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9893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486A6D-E1AC-98B7-4AC9-84E819051D4C}"/>
              </a:ext>
            </a:extLst>
          </p:cNvPr>
          <p:cNvSpPr txBox="1"/>
          <p:nvPr/>
        </p:nvSpPr>
        <p:spPr>
          <a:xfrm>
            <a:off x="1343472" y="908720"/>
            <a:ext cx="396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Lots</a:t>
            </a:r>
            <a:r>
              <a:rPr lang="ko-KR" altLang="en-US" dirty="0"/>
              <a:t> </a:t>
            </a:r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Particles!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A056ED-48DB-A943-C753-CDE5F75FCCB8}"/>
              </a:ext>
            </a:extLst>
          </p:cNvPr>
          <p:cNvSpPr/>
          <p:nvPr/>
        </p:nvSpPr>
        <p:spPr>
          <a:xfrm>
            <a:off x="4180865" y="2014200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1CC0813-8C53-CC2F-2439-68ABFC8FF6F1}"/>
              </a:ext>
            </a:extLst>
          </p:cNvPr>
          <p:cNvSpPr/>
          <p:nvPr/>
        </p:nvSpPr>
        <p:spPr>
          <a:xfrm>
            <a:off x="4494927" y="3022312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29E02F-EA7D-BD2E-5F21-02FCD7226A03}"/>
              </a:ext>
            </a:extLst>
          </p:cNvPr>
          <p:cNvSpPr/>
          <p:nvPr/>
        </p:nvSpPr>
        <p:spPr>
          <a:xfrm>
            <a:off x="5260985" y="2150406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4291B83-98AD-58A1-9F00-9A1933866361}"/>
              </a:ext>
            </a:extLst>
          </p:cNvPr>
          <p:cNvSpPr/>
          <p:nvPr/>
        </p:nvSpPr>
        <p:spPr>
          <a:xfrm>
            <a:off x="5543038" y="1489723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1F09C6-F086-05A9-563C-419D12352035}"/>
              </a:ext>
            </a:extLst>
          </p:cNvPr>
          <p:cNvSpPr/>
          <p:nvPr/>
        </p:nvSpPr>
        <p:spPr>
          <a:xfrm>
            <a:off x="5544616" y="3292827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8FFB4E-4DEE-D84E-0408-80E4685B4EAB}"/>
              </a:ext>
            </a:extLst>
          </p:cNvPr>
          <p:cNvSpPr/>
          <p:nvPr/>
        </p:nvSpPr>
        <p:spPr>
          <a:xfrm>
            <a:off x="5981065" y="2518256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EEE80D9-6F4D-5EFD-B558-93254C2F8CF0}"/>
              </a:ext>
            </a:extLst>
          </p:cNvPr>
          <p:cNvSpPr/>
          <p:nvPr/>
        </p:nvSpPr>
        <p:spPr>
          <a:xfrm>
            <a:off x="6701145" y="3526368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67B178-1895-BE19-3D1F-380205B6DF3B}"/>
              </a:ext>
            </a:extLst>
          </p:cNvPr>
          <p:cNvSpPr/>
          <p:nvPr/>
        </p:nvSpPr>
        <p:spPr>
          <a:xfrm>
            <a:off x="6773153" y="2423595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840E07B-62B2-B560-A1DF-89D4A81DEBAA}"/>
              </a:ext>
            </a:extLst>
          </p:cNvPr>
          <p:cNvSpPr/>
          <p:nvPr/>
        </p:nvSpPr>
        <p:spPr>
          <a:xfrm>
            <a:off x="3836500" y="3167795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D37398-45ED-0F97-555B-75652AB9113C}"/>
              </a:ext>
            </a:extLst>
          </p:cNvPr>
          <p:cNvSpPr/>
          <p:nvPr/>
        </p:nvSpPr>
        <p:spPr>
          <a:xfrm>
            <a:off x="4150562" y="4175907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A3E7F71-41F3-325C-49C1-E375D64141E2}"/>
              </a:ext>
            </a:extLst>
          </p:cNvPr>
          <p:cNvSpPr/>
          <p:nvPr/>
        </p:nvSpPr>
        <p:spPr>
          <a:xfrm>
            <a:off x="4916620" y="3304001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2DA16B-56C1-CF88-9793-63C63A71AB43}"/>
              </a:ext>
            </a:extLst>
          </p:cNvPr>
          <p:cNvSpPr/>
          <p:nvPr/>
        </p:nvSpPr>
        <p:spPr>
          <a:xfrm>
            <a:off x="5198673" y="2643318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3AA9342-B494-DF3F-BAFD-4A1C69F571F7}"/>
              </a:ext>
            </a:extLst>
          </p:cNvPr>
          <p:cNvSpPr/>
          <p:nvPr/>
        </p:nvSpPr>
        <p:spPr>
          <a:xfrm>
            <a:off x="5200251" y="4446422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63E890-50B2-A806-02BE-01C0D2FDFDDF}"/>
              </a:ext>
            </a:extLst>
          </p:cNvPr>
          <p:cNvSpPr/>
          <p:nvPr/>
        </p:nvSpPr>
        <p:spPr>
          <a:xfrm>
            <a:off x="5636700" y="3671851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21E2B91-CE27-8090-975F-31A16761BD14}"/>
              </a:ext>
            </a:extLst>
          </p:cNvPr>
          <p:cNvSpPr/>
          <p:nvPr/>
        </p:nvSpPr>
        <p:spPr>
          <a:xfrm>
            <a:off x="6356780" y="4679963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44AF06B-E131-2A13-DC58-11C6E1BD3271}"/>
              </a:ext>
            </a:extLst>
          </p:cNvPr>
          <p:cNvSpPr/>
          <p:nvPr/>
        </p:nvSpPr>
        <p:spPr>
          <a:xfrm>
            <a:off x="6428788" y="3577190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47758BD-E7A2-9718-798A-730898D073E7}"/>
              </a:ext>
            </a:extLst>
          </p:cNvPr>
          <p:cNvSpPr/>
          <p:nvPr/>
        </p:nvSpPr>
        <p:spPr>
          <a:xfrm>
            <a:off x="5447928" y="1939485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32AFC01-3DCA-FFD3-7B6C-B645CE9E0A32}"/>
              </a:ext>
            </a:extLst>
          </p:cNvPr>
          <p:cNvSpPr/>
          <p:nvPr/>
        </p:nvSpPr>
        <p:spPr>
          <a:xfrm>
            <a:off x="5761990" y="2947597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94B4CA-BE1F-82CA-7983-D6BD04821C27}"/>
              </a:ext>
            </a:extLst>
          </p:cNvPr>
          <p:cNvSpPr/>
          <p:nvPr/>
        </p:nvSpPr>
        <p:spPr>
          <a:xfrm>
            <a:off x="6528048" y="2075691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F7F457A-D948-F440-B684-A096EA697F80}"/>
              </a:ext>
            </a:extLst>
          </p:cNvPr>
          <p:cNvSpPr/>
          <p:nvPr/>
        </p:nvSpPr>
        <p:spPr>
          <a:xfrm>
            <a:off x="6810101" y="1415008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B0DCA8F-5439-495C-8D7F-1792FF5E7106}"/>
              </a:ext>
            </a:extLst>
          </p:cNvPr>
          <p:cNvSpPr/>
          <p:nvPr/>
        </p:nvSpPr>
        <p:spPr>
          <a:xfrm>
            <a:off x="6811679" y="3218112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EADF3A-A371-CD8D-13F0-8196B5C877F5}"/>
              </a:ext>
            </a:extLst>
          </p:cNvPr>
          <p:cNvSpPr/>
          <p:nvPr/>
        </p:nvSpPr>
        <p:spPr>
          <a:xfrm>
            <a:off x="7248128" y="2443541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A58779-64D6-37E7-4918-1293FF803EF8}"/>
              </a:ext>
            </a:extLst>
          </p:cNvPr>
          <p:cNvSpPr/>
          <p:nvPr/>
        </p:nvSpPr>
        <p:spPr>
          <a:xfrm>
            <a:off x="7968208" y="3451653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20C424C-26DE-BF13-5982-59AA4957FC70}"/>
              </a:ext>
            </a:extLst>
          </p:cNvPr>
          <p:cNvSpPr/>
          <p:nvPr/>
        </p:nvSpPr>
        <p:spPr>
          <a:xfrm>
            <a:off x="8040216" y="2348880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AF5E3F-507C-EAB3-C673-11E310ADF307}"/>
              </a:ext>
            </a:extLst>
          </p:cNvPr>
          <p:cNvSpPr/>
          <p:nvPr/>
        </p:nvSpPr>
        <p:spPr>
          <a:xfrm>
            <a:off x="5007889" y="3649948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79149D-B0B3-5469-96BA-D8B8FD36A3FE}"/>
              </a:ext>
            </a:extLst>
          </p:cNvPr>
          <p:cNvSpPr/>
          <p:nvPr/>
        </p:nvSpPr>
        <p:spPr>
          <a:xfrm>
            <a:off x="5321951" y="4658060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D0646BA-31A8-F592-C39C-2749CFA80B5D}"/>
              </a:ext>
            </a:extLst>
          </p:cNvPr>
          <p:cNvSpPr/>
          <p:nvPr/>
        </p:nvSpPr>
        <p:spPr>
          <a:xfrm>
            <a:off x="6088009" y="3786154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26EEB44-88F1-9729-6458-BAFA9526DCAA}"/>
              </a:ext>
            </a:extLst>
          </p:cNvPr>
          <p:cNvSpPr/>
          <p:nvPr/>
        </p:nvSpPr>
        <p:spPr>
          <a:xfrm>
            <a:off x="6370062" y="3125471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F65F14F-4964-4A1B-4F4A-9EE2879F0E90}"/>
              </a:ext>
            </a:extLst>
          </p:cNvPr>
          <p:cNvSpPr/>
          <p:nvPr/>
        </p:nvSpPr>
        <p:spPr>
          <a:xfrm>
            <a:off x="6371640" y="4928575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3899CAC-648D-9BDB-5BA3-8D4D7A8CFAC3}"/>
              </a:ext>
            </a:extLst>
          </p:cNvPr>
          <p:cNvSpPr/>
          <p:nvPr/>
        </p:nvSpPr>
        <p:spPr>
          <a:xfrm>
            <a:off x="6808089" y="4154004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FB0789-68AF-7154-5EF1-784907A2FA78}"/>
              </a:ext>
            </a:extLst>
          </p:cNvPr>
          <p:cNvSpPr/>
          <p:nvPr/>
        </p:nvSpPr>
        <p:spPr>
          <a:xfrm>
            <a:off x="7528169" y="5162116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8859BD2-9987-989A-0231-C6C24E6987C6}"/>
              </a:ext>
            </a:extLst>
          </p:cNvPr>
          <p:cNvSpPr/>
          <p:nvPr/>
        </p:nvSpPr>
        <p:spPr>
          <a:xfrm>
            <a:off x="7600177" y="4059343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8FBDEFB-89D3-424C-F07F-FB2AB8EE516A}"/>
              </a:ext>
            </a:extLst>
          </p:cNvPr>
          <p:cNvSpPr/>
          <p:nvPr/>
        </p:nvSpPr>
        <p:spPr>
          <a:xfrm>
            <a:off x="3605936" y="3764251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781A9C6-8114-DDAA-6754-317E5B52073D}"/>
              </a:ext>
            </a:extLst>
          </p:cNvPr>
          <p:cNvSpPr/>
          <p:nvPr/>
        </p:nvSpPr>
        <p:spPr>
          <a:xfrm>
            <a:off x="3919998" y="4772363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64926EC-11AF-FC73-9229-3A183B649E91}"/>
              </a:ext>
            </a:extLst>
          </p:cNvPr>
          <p:cNvSpPr/>
          <p:nvPr/>
        </p:nvSpPr>
        <p:spPr>
          <a:xfrm>
            <a:off x="4686056" y="3900457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40FE3475-EFD4-A54C-B0BB-C8938043A155}"/>
              </a:ext>
            </a:extLst>
          </p:cNvPr>
          <p:cNvSpPr/>
          <p:nvPr/>
        </p:nvSpPr>
        <p:spPr>
          <a:xfrm>
            <a:off x="4968109" y="3239774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45CE55D-5699-1D63-33B0-D68251E8FE91}"/>
              </a:ext>
            </a:extLst>
          </p:cNvPr>
          <p:cNvSpPr/>
          <p:nvPr/>
        </p:nvSpPr>
        <p:spPr>
          <a:xfrm>
            <a:off x="4969687" y="5042878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85773B8-A548-4924-83EA-6037800B3A10}"/>
              </a:ext>
            </a:extLst>
          </p:cNvPr>
          <p:cNvSpPr/>
          <p:nvPr/>
        </p:nvSpPr>
        <p:spPr>
          <a:xfrm>
            <a:off x="5406136" y="4268307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57E9D7A4-9A7E-5974-2BF1-1B57CE9FF986}"/>
              </a:ext>
            </a:extLst>
          </p:cNvPr>
          <p:cNvSpPr/>
          <p:nvPr/>
        </p:nvSpPr>
        <p:spPr>
          <a:xfrm>
            <a:off x="6126216" y="5276419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DE85369-4CBA-65A1-7817-9F373F546D51}"/>
              </a:ext>
            </a:extLst>
          </p:cNvPr>
          <p:cNvSpPr/>
          <p:nvPr/>
        </p:nvSpPr>
        <p:spPr>
          <a:xfrm>
            <a:off x="6198224" y="4173646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5B9D79-B488-7AE6-AF5C-6A4F218D3BA1}"/>
              </a:ext>
            </a:extLst>
          </p:cNvPr>
          <p:cNvSpPr txBox="1"/>
          <p:nvPr/>
        </p:nvSpPr>
        <p:spPr>
          <a:xfrm>
            <a:off x="1343472" y="1657895"/>
            <a:ext cx="20453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Random Location</a:t>
            </a:r>
          </a:p>
          <a:p>
            <a:r>
              <a:rPr lang="en-US" altLang="ko-KR" dirty="0"/>
              <a:t>Random Value</a:t>
            </a:r>
          </a:p>
          <a:p>
            <a:r>
              <a:rPr lang="en-US" altLang="ko-KR" dirty="0"/>
              <a:t>Random Color</a:t>
            </a:r>
          </a:p>
          <a:p>
            <a:r>
              <a:rPr lang="en-US" altLang="ko-KR" dirty="0"/>
              <a:t>Random</a:t>
            </a:r>
            <a:r>
              <a:rPr lang="ko-KR" altLang="en-US" dirty="0"/>
              <a:t> </a:t>
            </a:r>
            <a:r>
              <a:rPr lang="en-US" altLang="ko-KR" dirty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29156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2F3BD4F-D5FF-8F1F-E093-4D6F0F453ADE}"/>
              </a:ext>
            </a:extLst>
          </p:cNvPr>
          <p:cNvSpPr txBox="1"/>
          <p:nvPr/>
        </p:nvSpPr>
        <p:spPr>
          <a:xfrm>
            <a:off x="3215680" y="3573016"/>
            <a:ext cx="6094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solidFill>
                  <a:srgbClr val="E06C75"/>
                </a:solidFill>
                <a:effectLst/>
              </a:rPr>
              <a:t>glBlendFunc</a:t>
            </a:r>
            <a:r>
              <a:rPr lang="en-US" altLang="ko-KR" b="0" i="0" dirty="0">
                <a:solidFill>
                  <a:srgbClr val="ABB2BF"/>
                </a:solidFill>
                <a:effectLst/>
                <a:latin typeface="SF Mono"/>
              </a:rPr>
              <a:t>(GL_SRC_ALPHA, GL_ONE_MINUS_SRC_ALPHA); 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77595-3200-F96B-CF9B-B1FFA357D7A5}"/>
              </a:ext>
            </a:extLst>
          </p:cNvPr>
          <p:cNvSpPr txBox="1"/>
          <p:nvPr/>
        </p:nvSpPr>
        <p:spPr>
          <a:xfrm>
            <a:off x="3215680" y="3203684"/>
            <a:ext cx="6094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solidFill>
                  <a:srgbClr val="E06C75"/>
                </a:solidFill>
                <a:effectLst/>
              </a:rPr>
              <a:t>glEnable</a:t>
            </a:r>
            <a:r>
              <a:rPr lang="en-US" altLang="ko-KR" b="0" i="0" dirty="0">
                <a:solidFill>
                  <a:srgbClr val="ABB2BF"/>
                </a:solidFill>
                <a:effectLst/>
                <a:latin typeface="SF Mono"/>
              </a:rPr>
              <a:t>(GL_BLEND);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E0F18C-6DCC-DE05-4BC4-4EC8BDB5EBF0}"/>
              </a:ext>
            </a:extLst>
          </p:cNvPr>
          <p:cNvSpPr txBox="1"/>
          <p:nvPr/>
        </p:nvSpPr>
        <p:spPr>
          <a:xfrm>
            <a:off x="4115780" y="2015262"/>
            <a:ext cx="39604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/>
              <a:t>Enable Alpha Blending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497149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C183E-AC41-0BD8-8F38-5FD9335D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C20689C-C245-B91A-E125-EFA8B42D6269}"/>
              </a:ext>
            </a:extLst>
          </p:cNvPr>
          <p:cNvSpPr/>
          <p:nvPr/>
        </p:nvSpPr>
        <p:spPr>
          <a:xfrm>
            <a:off x="3073495" y="3054217"/>
            <a:ext cx="216024" cy="22585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B4FED09-9389-9696-783F-E6202BA933CA}"/>
              </a:ext>
            </a:extLst>
          </p:cNvPr>
          <p:cNvSpPr/>
          <p:nvPr/>
        </p:nvSpPr>
        <p:spPr>
          <a:xfrm>
            <a:off x="4799856" y="2142825"/>
            <a:ext cx="288032" cy="2782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A29B528E-666D-AF90-26EB-311D37EFA725}"/>
              </a:ext>
            </a:extLst>
          </p:cNvPr>
          <p:cNvSpPr/>
          <p:nvPr/>
        </p:nvSpPr>
        <p:spPr>
          <a:xfrm>
            <a:off x="3181507" y="1380463"/>
            <a:ext cx="6075848" cy="3557114"/>
          </a:xfrm>
          <a:custGeom>
            <a:avLst/>
            <a:gdLst>
              <a:gd name="connsiteX0" fmla="*/ 0 w 6075848"/>
              <a:gd name="connsiteY0" fmla="*/ 1816158 h 3557114"/>
              <a:gd name="connsiteX1" fmla="*/ 1964827 w 6075848"/>
              <a:gd name="connsiteY1" fmla="*/ 47815 h 3557114"/>
              <a:gd name="connsiteX2" fmla="*/ 4103465 w 6075848"/>
              <a:gd name="connsiteY2" fmla="*/ 3516489 h 3557114"/>
              <a:gd name="connsiteX3" fmla="*/ 6075848 w 6075848"/>
              <a:gd name="connsiteY3" fmla="*/ 1634790 h 355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75848" h="3557114">
                <a:moveTo>
                  <a:pt x="0" y="1816158"/>
                </a:moveTo>
                <a:cubicBezTo>
                  <a:pt x="640458" y="790292"/>
                  <a:pt x="1280916" y="-235574"/>
                  <a:pt x="1964827" y="47815"/>
                </a:cubicBezTo>
                <a:cubicBezTo>
                  <a:pt x="2648738" y="331203"/>
                  <a:pt x="3418295" y="3251993"/>
                  <a:pt x="4103465" y="3516489"/>
                </a:cubicBezTo>
                <a:cubicBezTo>
                  <a:pt x="4788635" y="3780985"/>
                  <a:pt x="5432241" y="2707887"/>
                  <a:pt x="6075848" y="163479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3AC722C-638D-5919-3D6C-B162BF21B0B7}"/>
              </a:ext>
            </a:extLst>
          </p:cNvPr>
          <p:cNvSpPr/>
          <p:nvPr/>
        </p:nvSpPr>
        <p:spPr>
          <a:xfrm>
            <a:off x="4799856" y="1260115"/>
            <a:ext cx="288032" cy="2731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8A0D1535-35F2-4273-05F6-CA23CB7E5BAA}"/>
              </a:ext>
            </a:extLst>
          </p:cNvPr>
          <p:cNvSpPr/>
          <p:nvPr/>
        </p:nvSpPr>
        <p:spPr>
          <a:xfrm>
            <a:off x="3181507" y="2281927"/>
            <a:ext cx="6075848" cy="1770433"/>
          </a:xfrm>
          <a:custGeom>
            <a:avLst/>
            <a:gdLst>
              <a:gd name="connsiteX0" fmla="*/ 0 w 6075848"/>
              <a:gd name="connsiteY0" fmla="*/ 1816158 h 3557114"/>
              <a:gd name="connsiteX1" fmla="*/ 1964827 w 6075848"/>
              <a:gd name="connsiteY1" fmla="*/ 47815 h 3557114"/>
              <a:gd name="connsiteX2" fmla="*/ 4103465 w 6075848"/>
              <a:gd name="connsiteY2" fmla="*/ 3516489 h 3557114"/>
              <a:gd name="connsiteX3" fmla="*/ 6075848 w 6075848"/>
              <a:gd name="connsiteY3" fmla="*/ 1634790 h 355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75848" h="3557114">
                <a:moveTo>
                  <a:pt x="0" y="1816158"/>
                </a:moveTo>
                <a:cubicBezTo>
                  <a:pt x="640458" y="790292"/>
                  <a:pt x="1280916" y="-235574"/>
                  <a:pt x="1964827" y="47815"/>
                </a:cubicBezTo>
                <a:cubicBezTo>
                  <a:pt x="2648738" y="331203"/>
                  <a:pt x="3418295" y="3251993"/>
                  <a:pt x="4103465" y="3516489"/>
                </a:cubicBezTo>
                <a:cubicBezTo>
                  <a:pt x="4788635" y="3780985"/>
                  <a:pt x="5432241" y="2707887"/>
                  <a:pt x="6075848" y="163479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29B81F-3D48-6A8D-6138-F9F5AEC2FF8E}"/>
              </a:ext>
            </a:extLst>
          </p:cNvPr>
          <p:cNvSpPr txBox="1"/>
          <p:nvPr/>
        </p:nvSpPr>
        <p:spPr>
          <a:xfrm>
            <a:off x="3161355" y="53839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파티클 움직임이 사인 곡선을 따라가도록 함</a:t>
            </a:r>
          </a:p>
        </p:txBody>
      </p:sp>
    </p:spTree>
    <p:extLst>
      <p:ext uri="{BB962C8B-B14F-4D97-AF65-F5344CB8AC3E}">
        <p14:creationId xmlns:p14="http://schemas.microsoft.com/office/powerpoint/2010/main" val="39517789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05773-CD83-0EA5-9119-DE417BE94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A69BBFDE-8CB2-90E0-7FC1-90E0203C7553}"/>
              </a:ext>
            </a:extLst>
          </p:cNvPr>
          <p:cNvGrpSpPr/>
          <p:nvPr/>
        </p:nvGrpSpPr>
        <p:grpSpPr>
          <a:xfrm rot="19411949">
            <a:off x="3073495" y="1260115"/>
            <a:ext cx="6183860" cy="3677462"/>
            <a:chOff x="3073495" y="1260115"/>
            <a:chExt cx="6183860" cy="3677462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F3002D0F-7FF9-5ABB-0AA2-18EE30242511}"/>
                </a:ext>
              </a:extLst>
            </p:cNvPr>
            <p:cNvSpPr/>
            <p:nvPr/>
          </p:nvSpPr>
          <p:spPr>
            <a:xfrm>
              <a:off x="3073495" y="3054217"/>
              <a:ext cx="216024" cy="22585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BF61912E-9729-64D0-1119-B2BC56A1788A}"/>
                </a:ext>
              </a:extLst>
            </p:cNvPr>
            <p:cNvSpPr/>
            <p:nvPr/>
          </p:nvSpPr>
          <p:spPr>
            <a:xfrm>
              <a:off x="4799856" y="2142825"/>
              <a:ext cx="288032" cy="27820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14051F5E-C139-98D2-A790-49C247DBA0DB}"/>
                </a:ext>
              </a:extLst>
            </p:cNvPr>
            <p:cNvSpPr/>
            <p:nvPr/>
          </p:nvSpPr>
          <p:spPr>
            <a:xfrm>
              <a:off x="3181507" y="1380463"/>
              <a:ext cx="6075848" cy="3557114"/>
            </a:xfrm>
            <a:custGeom>
              <a:avLst/>
              <a:gdLst>
                <a:gd name="connsiteX0" fmla="*/ 0 w 6075848"/>
                <a:gd name="connsiteY0" fmla="*/ 1816158 h 3557114"/>
                <a:gd name="connsiteX1" fmla="*/ 1964827 w 6075848"/>
                <a:gd name="connsiteY1" fmla="*/ 47815 h 3557114"/>
                <a:gd name="connsiteX2" fmla="*/ 4103465 w 6075848"/>
                <a:gd name="connsiteY2" fmla="*/ 3516489 h 3557114"/>
                <a:gd name="connsiteX3" fmla="*/ 6075848 w 6075848"/>
                <a:gd name="connsiteY3" fmla="*/ 1634790 h 3557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75848" h="3557114">
                  <a:moveTo>
                    <a:pt x="0" y="1816158"/>
                  </a:moveTo>
                  <a:cubicBezTo>
                    <a:pt x="640458" y="790292"/>
                    <a:pt x="1280916" y="-235574"/>
                    <a:pt x="1964827" y="47815"/>
                  </a:cubicBezTo>
                  <a:cubicBezTo>
                    <a:pt x="2648738" y="331203"/>
                    <a:pt x="3418295" y="3251993"/>
                    <a:pt x="4103465" y="3516489"/>
                  </a:cubicBezTo>
                  <a:cubicBezTo>
                    <a:pt x="4788635" y="3780985"/>
                    <a:pt x="5432241" y="2707887"/>
                    <a:pt x="6075848" y="163479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750C9F4-BB19-009B-7B3F-1123577EB030}"/>
                </a:ext>
              </a:extLst>
            </p:cNvPr>
            <p:cNvSpPr/>
            <p:nvPr/>
          </p:nvSpPr>
          <p:spPr>
            <a:xfrm>
              <a:off x="4799856" y="1260115"/>
              <a:ext cx="288032" cy="2731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자유형: 도형 5">
              <a:extLst>
                <a:ext uri="{FF2B5EF4-FFF2-40B4-BE49-F238E27FC236}">
                  <a16:creationId xmlns:a16="http://schemas.microsoft.com/office/drawing/2014/main" id="{BB38022A-B4E9-C6EE-2A37-781B514D930F}"/>
                </a:ext>
              </a:extLst>
            </p:cNvPr>
            <p:cNvSpPr/>
            <p:nvPr/>
          </p:nvSpPr>
          <p:spPr>
            <a:xfrm>
              <a:off x="3181507" y="2281927"/>
              <a:ext cx="6075848" cy="1770433"/>
            </a:xfrm>
            <a:custGeom>
              <a:avLst/>
              <a:gdLst>
                <a:gd name="connsiteX0" fmla="*/ 0 w 6075848"/>
                <a:gd name="connsiteY0" fmla="*/ 1816158 h 3557114"/>
                <a:gd name="connsiteX1" fmla="*/ 1964827 w 6075848"/>
                <a:gd name="connsiteY1" fmla="*/ 47815 h 3557114"/>
                <a:gd name="connsiteX2" fmla="*/ 4103465 w 6075848"/>
                <a:gd name="connsiteY2" fmla="*/ 3516489 h 3557114"/>
                <a:gd name="connsiteX3" fmla="*/ 6075848 w 6075848"/>
                <a:gd name="connsiteY3" fmla="*/ 1634790 h 3557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75848" h="3557114">
                  <a:moveTo>
                    <a:pt x="0" y="1816158"/>
                  </a:moveTo>
                  <a:cubicBezTo>
                    <a:pt x="640458" y="790292"/>
                    <a:pt x="1280916" y="-235574"/>
                    <a:pt x="1964827" y="47815"/>
                  </a:cubicBezTo>
                  <a:cubicBezTo>
                    <a:pt x="2648738" y="331203"/>
                    <a:pt x="3418295" y="3251993"/>
                    <a:pt x="4103465" y="3516489"/>
                  </a:cubicBezTo>
                  <a:cubicBezTo>
                    <a:pt x="4788635" y="3780985"/>
                    <a:pt x="5432241" y="2707887"/>
                    <a:pt x="6075848" y="163479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C4FDD93-881E-BAC2-3ACE-75D23104E555}"/>
              </a:ext>
            </a:extLst>
          </p:cNvPr>
          <p:cNvSpPr txBox="1"/>
          <p:nvPr/>
        </p:nvSpPr>
        <p:spPr>
          <a:xfrm>
            <a:off x="3161354" y="5383910"/>
            <a:ext cx="71831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파티클 움직임이 </a:t>
            </a:r>
            <a:r>
              <a:rPr lang="ko-KR" altLang="en-US" dirty="0"/>
              <a:t>입력된 방향</a:t>
            </a:r>
            <a:r>
              <a:rPr lang="en-US" altLang="ko-KR" dirty="0"/>
              <a:t>(</a:t>
            </a:r>
            <a:r>
              <a:rPr lang="ko-KR" altLang="en-US" dirty="0"/>
              <a:t>속도</a:t>
            </a:r>
            <a:r>
              <a:rPr lang="en-US" altLang="ko-KR" dirty="0"/>
              <a:t>)</a:t>
            </a:r>
            <a:r>
              <a:rPr lang="ko-KR" altLang="en-US" dirty="0"/>
              <a:t>에 따라 움직이도록 수정</a:t>
            </a:r>
            <a:endParaRPr lang="en-US" altLang="ko-KR" dirty="0"/>
          </a:p>
          <a:p>
            <a:r>
              <a:rPr lang="ko-KR" altLang="en-US" sz="1800" dirty="0"/>
              <a:t>파티클 별로 진동 폭이 다르도록 구현</a:t>
            </a:r>
            <a:endParaRPr lang="en-US" altLang="ko-KR" sz="1800" dirty="0"/>
          </a:p>
          <a:p>
            <a:r>
              <a:rPr lang="ko-KR" altLang="en-US" dirty="0"/>
              <a:t>생성 후 점차 폭이 넓어지도록 구현</a:t>
            </a:r>
            <a:endParaRPr lang="ko-KR" altLang="en-US" sz="180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951F487-363F-8530-FD32-7DBA061ECF04}"/>
              </a:ext>
            </a:extLst>
          </p:cNvPr>
          <p:cNvCxnSpPr>
            <a:stCxn id="6" idx="0"/>
          </p:cNvCxnSpPr>
          <p:nvPr/>
        </p:nvCxnSpPr>
        <p:spPr>
          <a:xfrm flipV="1">
            <a:off x="3817493" y="1196752"/>
            <a:ext cx="4870795" cy="3745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33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8A94AA73-5A4B-70BC-7CCF-6ECA95EF2E3B}"/>
              </a:ext>
            </a:extLst>
          </p:cNvPr>
          <p:cNvSpPr/>
          <p:nvPr/>
        </p:nvSpPr>
        <p:spPr>
          <a:xfrm>
            <a:off x="3503712" y="908720"/>
            <a:ext cx="4896544" cy="46805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D37CA-5C0C-F263-02E1-FBB68ECAF2F8}"/>
              </a:ext>
            </a:extLst>
          </p:cNvPr>
          <p:cNvSpPr txBox="1"/>
          <p:nvPr/>
        </p:nvSpPr>
        <p:spPr>
          <a:xfrm>
            <a:off x="3477024" y="6021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원 둘레 상에서 </a:t>
            </a:r>
            <a:r>
              <a:rPr lang="ko-KR" altLang="en-US" sz="1800" dirty="0" err="1"/>
              <a:t>파티클이</a:t>
            </a:r>
            <a:r>
              <a:rPr lang="ko-KR" altLang="en-US" sz="1800" dirty="0"/>
              <a:t> 생성되도록 구현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589138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21C6759F-B717-46DA-B7E7-D6685C1B9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504" y="188640"/>
            <a:ext cx="9128931" cy="626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3145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TM04033921[[fn=다마스크]]</Template>
  <TotalTime>977</TotalTime>
  <Words>1379</Words>
  <Application>Microsoft Office PowerPoint</Application>
  <PresentationFormat>와이드스크린</PresentationFormat>
  <Paragraphs>311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8" baseType="lpstr">
      <vt:lpstr>SF Mono</vt:lpstr>
      <vt:lpstr>맑은 고딕</vt:lpstr>
      <vt:lpstr>Arial</vt:lpstr>
      <vt:lpstr>Bookman Old Style</vt:lpstr>
      <vt:lpstr>Rockwell</vt:lpstr>
      <vt:lpstr>Wingdings</vt:lpstr>
      <vt:lpstr>Damask</vt:lpstr>
      <vt:lpstr>셰이더 프로그래밍 Lecture3</vt:lpstr>
      <vt:lpstr>수업에서 다룰 내용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OpenGL Shading Language</vt:lpstr>
      <vt:lpstr>Shader 입출력</vt:lpstr>
      <vt:lpstr>Shader 입출력</vt:lpstr>
      <vt:lpstr>Shader 입출력</vt:lpstr>
      <vt:lpstr>Shader 입출력</vt:lpstr>
      <vt:lpstr>Vertex shader 입력</vt:lpstr>
      <vt:lpstr>Vertex Shader 입력</vt:lpstr>
      <vt:lpstr>Vertex Shader 입력</vt:lpstr>
      <vt:lpstr>Vertex Shader 입력</vt:lpstr>
      <vt:lpstr>Vertex Shader 입력</vt:lpstr>
      <vt:lpstr>shader 외부 입력</vt:lpstr>
      <vt:lpstr>Shader 외부 입력</vt:lpstr>
      <vt:lpstr>Shader 외부 입력</vt:lpstr>
      <vt:lpstr>Shader 외부 입력</vt:lpstr>
      <vt:lpstr>Shader 외부 입력</vt:lpstr>
      <vt:lpstr>Shader 외부 입력</vt:lpstr>
      <vt:lpstr>Shader 외부 입력</vt:lpstr>
      <vt:lpstr>Shader 컴파일</vt:lpstr>
      <vt:lpstr>Shader 컴파일</vt:lpstr>
      <vt:lpstr>Shader 컴파일</vt:lpstr>
      <vt:lpstr>Shader 컴파일</vt:lpstr>
      <vt:lpstr>Test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고급그래픽스효과</dc:title>
  <dc:creator>Microsoft Corporation</dc:creator>
  <cp:lastModifiedBy>구민상(2020182005)</cp:lastModifiedBy>
  <cp:revision>61</cp:revision>
  <dcterms:created xsi:type="dcterms:W3CDTF">2006-10-05T04:04:58Z</dcterms:created>
  <dcterms:modified xsi:type="dcterms:W3CDTF">2025-11-03T18:18:02Z</dcterms:modified>
</cp:coreProperties>
</file>