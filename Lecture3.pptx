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3"/>
  </p:notesMasterIdLst>
  <p:sldIdLst>
    <p:sldId id="256" r:id="rId2"/>
    <p:sldId id="260" r:id="rId3"/>
    <p:sldId id="285" r:id="rId4"/>
    <p:sldId id="293" r:id="rId5"/>
    <p:sldId id="294" r:id="rId6"/>
    <p:sldId id="296" r:id="rId7"/>
    <p:sldId id="295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2" r:id="rId22"/>
    <p:sldId id="313" r:id="rId23"/>
    <p:sldId id="316" r:id="rId24"/>
    <p:sldId id="317" r:id="rId25"/>
    <p:sldId id="321" r:id="rId26"/>
    <p:sldId id="318" r:id="rId27"/>
    <p:sldId id="319" r:id="rId28"/>
    <p:sldId id="320" r:id="rId29"/>
    <p:sldId id="333" r:id="rId30"/>
    <p:sldId id="323" r:id="rId31"/>
    <p:sldId id="322" r:id="rId32"/>
    <p:sldId id="324" r:id="rId33"/>
    <p:sldId id="325" r:id="rId34"/>
    <p:sldId id="330" r:id="rId35"/>
    <p:sldId id="331" r:id="rId36"/>
    <p:sldId id="332" r:id="rId37"/>
    <p:sldId id="326" r:id="rId38"/>
    <p:sldId id="327" r:id="rId39"/>
    <p:sldId id="328" r:id="rId40"/>
    <p:sldId id="329" r:id="rId41"/>
    <p:sldId id="339" r:id="rId42"/>
    <p:sldId id="341" r:id="rId43"/>
    <p:sldId id="334" r:id="rId44"/>
    <p:sldId id="340" r:id="rId45"/>
    <p:sldId id="335" r:id="rId46"/>
    <p:sldId id="337" r:id="rId47"/>
    <p:sldId id="336" r:id="rId48"/>
    <p:sldId id="342" r:id="rId49"/>
    <p:sldId id="343" r:id="rId50"/>
    <p:sldId id="344" r:id="rId51"/>
    <p:sldId id="345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94" autoAdjust="0"/>
    <p:restoredTop sz="94660"/>
  </p:normalViewPr>
  <p:slideViewPr>
    <p:cSldViewPr>
      <p:cViewPr varScale="1">
        <p:scale>
          <a:sx n="111" d="100"/>
          <a:sy n="111" d="100"/>
        </p:scale>
        <p:origin x="13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 dirty="0"/>
            </a:br>
            <a:r>
              <a:rPr lang="en-US" altLang="ko-KR" sz="7200" dirty="0"/>
              <a:t>Lecture3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/>
              <a:t>2025</a:t>
            </a:r>
            <a:r>
              <a:rPr lang="ko-KR" altLang="en-US" sz="3200"/>
              <a:t>년 </a:t>
            </a:r>
            <a:r>
              <a:rPr lang="en-US" altLang="ko-KR" sz="3200"/>
              <a:t>2</a:t>
            </a:r>
            <a:r>
              <a:rPr lang="ko-KR" altLang="en-US" sz="3200"/>
              <a:t>학기</a:t>
            </a:r>
            <a:endParaRPr lang="en-US" altLang="ko-KR" sz="3200"/>
          </a:p>
          <a:p>
            <a:pPr algn="l"/>
            <a:r>
              <a:rPr lang="ko-KR" altLang="en-US" sz="3200"/>
              <a:t>담당교수 </a:t>
            </a:r>
            <a:r>
              <a:rPr lang="en-US" altLang="ko-KR" sz="3200"/>
              <a:t>: </a:t>
            </a:r>
            <a:r>
              <a:rPr lang="ko-KR" altLang="en-US" sz="3200"/>
              <a:t>게임공학과 이택희</a:t>
            </a:r>
          </a:p>
        </p:txBody>
      </p: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수업에서 다룰 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Shader</a:t>
            </a:r>
            <a:r>
              <a:rPr lang="ko-KR" altLang="en-US" dirty="0"/>
              <a:t> 입출력 </a:t>
            </a:r>
            <a:endParaRPr lang="en-US" altLang="ko-KR" dirty="0"/>
          </a:p>
          <a:p>
            <a:r>
              <a:rPr lang="en-US" altLang="ko-KR" dirty="0"/>
              <a:t>Shader</a:t>
            </a:r>
            <a:r>
              <a:rPr lang="ko-KR" altLang="en-US" dirty="0"/>
              <a:t> 컴파일</a:t>
            </a:r>
            <a:endParaRPr lang="en-US" altLang="ko-KR" dirty="0"/>
          </a:p>
          <a:p>
            <a:r>
              <a:rPr lang="en-US" altLang="ko-KR" dirty="0"/>
              <a:t>Vertex</a:t>
            </a:r>
            <a:r>
              <a:rPr lang="ko-KR" altLang="en-US" dirty="0"/>
              <a:t> </a:t>
            </a:r>
            <a:r>
              <a:rPr lang="en-US" altLang="ko-KR" dirty="0"/>
              <a:t>Shader</a:t>
            </a:r>
            <a:r>
              <a:rPr lang="ko-KR" altLang="en-US" dirty="0"/>
              <a:t> 입력</a:t>
            </a:r>
            <a:endParaRPr lang="en-US" altLang="ko-KR" dirty="0"/>
          </a:p>
          <a:p>
            <a:r>
              <a:rPr lang="en-US" altLang="ko-KR" dirty="0"/>
              <a:t>Shader</a:t>
            </a:r>
            <a:r>
              <a:rPr lang="ko-KR" altLang="en-US" dirty="0"/>
              <a:t> 외부 입력</a:t>
            </a:r>
            <a:endParaRPr lang="en-US" altLang="ko-KR" dirty="0"/>
          </a:p>
          <a:p>
            <a:r>
              <a:rPr lang="ko-KR" altLang="en-US" dirty="0"/>
              <a:t>실습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035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5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991544" y="3096394"/>
            <a:ext cx="8033202" cy="1224136"/>
            <a:chOff x="671042" y="4581128"/>
            <a:chExt cx="7790243" cy="1224136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671042" y="4581128"/>
              <a:ext cx="1368152" cy="12241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Vertex Shader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2200897" y="4581128"/>
              <a:ext cx="1368152" cy="1224136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Primitive Assembly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3723234" y="4581128"/>
              <a:ext cx="1700336" cy="122413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Rasterization</a:t>
              </a:r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Interpolation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586348" y="4581128"/>
              <a:ext cx="1359768" cy="12241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Fragment Shader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101517" y="4581128"/>
              <a:ext cx="1359768" cy="122413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Frame Buffer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오른쪽 화살표 11"/>
            <p:cNvSpPr/>
            <p:nvPr/>
          </p:nvSpPr>
          <p:spPr>
            <a:xfrm>
              <a:off x="2057667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오른쪽 화살표 12"/>
            <p:cNvSpPr/>
            <p:nvPr/>
          </p:nvSpPr>
          <p:spPr>
            <a:xfrm>
              <a:off x="3579873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오른쪽 화살표 13"/>
            <p:cNvSpPr/>
            <p:nvPr/>
          </p:nvSpPr>
          <p:spPr>
            <a:xfrm>
              <a:off x="5442044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오른쪽 화살표 14"/>
            <p:cNvSpPr/>
            <p:nvPr/>
          </p:nvSpPr>
          <p:spPr>
            <a:xfrm>
              <a:off x="6955352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478707" y="4520927"/>
            <a:ext cx="3073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프로그래밍 가능한 </a:t>
            </a:r>
            <a:r>
              <a:rPr lang="en-US" altLang="ko-KR" dirty="0"/>
              <a:t>Shader!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194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4897380" y="1772816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81200" y="4437113"/>
            <a:ext cx="81472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하나의</a:t>
            </a:r>
            <a:r>
              <a:rPr lang="en-US" altLang="ko-KR" sz="2800" dirty="0"/>
              <a:t> Vertex </a:t>
            </a:r>
            <a:r>
              <a:rPr lang="ko-KR" altLang="en-US" sz="2800" dirty="0"/>
              <a:t>단위로 처리되는 </a:t>
            </a:r>
            <a:r>
              <a:rPr lang="en-US" altLang="ko-KR" sz="2800" dirty="0"/>
              <a:t>stage</a:t>
            </a:r>
          </a:p>
          <a:p>
            <a:pPr algn="ctr"/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217558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51584" y="4437113"/>
            <a:ext cx="7416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하나의</a:t>
            </a:r>
            <a:r>
              <a:rPr lang="en-US" altLang="ko-KR" sz="2800" dirty="0"/>
              <a:t> Fragment </a:t>
            </a:r>
            <a:r>
              <a:rPr lang="ko-KR" altLang="en-US" sz="2800" dirty="0"/>
              <a:t>단위로 처리되는 </a:t>
            </a:r>
            <a:r>
              <a:rPr lang="en-US" altLang="ko-KR" sz="2800" dirty="0"/>
              <a:t>stage</a:t>
            </a:r>
          </a:p>
          <a:p>
            <a:pPr algn="ctr"/>
            <a:endParaRPr lang="en-US" altLang="ko-KR" sz="2800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4897380" y="1772816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881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855640" y="1772816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Tessellation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87688" y="4437112"/>
            <a:ext cx="592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강의에서는 다루지 않음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6672064" y="1772816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Geometry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43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 </a:t>
            </a:r>
            <a:r>
              <a:rPr lang="ko-KR" altLang="en-US" dirty="0"/>
              <a:t>프로그래밍</a:t>
            </a:r>
            <a:r>
              <a:rPr lang="en-US" altLang="ko-KR" dirty="0"/>
              <a:t> </a:t>
            </a:r>
            <a:r>
              <a:rPr lang="ko-KR" altLang="en-US" dirty="0"/>
              <a:t>형식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055151" y="278092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#version 450 core</a:t>
            </a:r>
          </a:p>
          <a:p>
            <a:endParaRPr lang="en-US" altLang="ko-KR" dirty="0"/>
          </a:p>
          <a:p>
            <a:r>
              <a:rPr lang="en-US" altLang="ko-KR" dirty="0"/>
              <a:t>void </a:t>
            </a:r>
          </a:p>
          <a:p>
            <a:r>
              <a:rPr lang="en-US" altLang="ko-KR" dirty="0"/>
              <a:t>main() </a:t>
            </a:r>
          </a:p>
          <a:p>
            <a:r>
              <a:rPr lang="en-US" altLang="ko-KR" dirty="0"/>
              <a:t>{ </a:t>
            </a:r>
          </a:p>
          <a:p>
            <a:r>
              <a:rPr lang="en-US" altLang="ko-KR" dirty="0"/>
              <a:t>	// Your code goes here 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061254" y="2833886"/>
            <a:ext cx="3522290" cy="19593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040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Basic Types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3212977"/>
            <a:ext cx="66865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4772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범위 </a:t>
            </a:r>
            <a:r>
              <a:rPr lang="en-US" altLang="ko-KR" dirty="0"/>
              <a:t>(C </a:t>
            </a:r>
            <a:r>
              <a:rPr lang="ko-KR" altLang="en-US" dirty="0"/>
              <a:t>와 동일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함수 외부에서 선언된 경우 전역 변수로 인식</a:t>
            </a:r>
            <a:endParaRPr lang="en-US" altLang="ko-KR" dirty="0"/>
          </a:p>
          <a:p>
            <a:pPr lvl="1"/>
            <a:r>
              <a:rPr lang="en-US" altLang="ko-KR" dirty="0"/>
              <a:t>For </a:t>
            </a:r>
            <a:r>
              <a:rPr lang="ko-KR" altLang="en-US" dirty="0"/>
              <a:t>나 </a:t>
            </a:r>
            <a:r>
              <a:rPr lang="en-US" altLang="ko-KR" dirty="0"/>
              <a:t>If </a:t>
            </a:r>
            <a:r>
              <a:rPr lang="ko-KR" altLang="en-US" dirty="0"/>
              <a:t>문 이후 등장하는 </a:t>
            </a:r>
            <a:r>
              <a:rPr lang="en-US" altLang="ko-KR" dirty="0"/>
              <a:t>{ } </a:t>
            </a:r>
            <a:r>
              <a:rPr lang="ko-KR" altLang="en-US" dirty="0"/>
              <a:t>내부에서 선언된 경우 내부에서만 제어 가능</a:t>
            </a:r>
            <a:endParaRPr lang="en-US" altLang="ko-KR" dirty="0"/>
          </a:p>
          <a:p>
            <a:pPr lvl="1"/>
            <a:r>
              <a:rPr lang="en-US" altLang="ko-KR" dirty="0"/>
              <a:t>{ } </a:t>
            </a:r>
            <a:r>
              <a:rPr lang="ko-KR" altLang="en-US" dirty="0"/>
              <a:t>외부의 </a:t>
            </a:r>
            <a:r>
              <a:rPr lang="en-US" altLang="ko-KR" dirty="0"/>
              <a:t>Variables </a:t>
            </a:r>
            <a:r>
              <a:rPr lang="ko-KR" altLang="en-US" dirty="0"/>
              <a:t>는 </a:t>
            </a:r>
            <a:r>
              <a:rPr lang="en-US" altLang="ko-KR" dirty="0"/>
              <a:t>{ } </a:t>
            </a:r>
            <a:r>
              <a:rPr lang="ko-KR" altLang="en-US" dirty="0"/>
              <a:t>내부에서 제어 가능</a:t>
            </a:r>
            <a:endParaRPr lang="en-US" altLang="ko-K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52" y="5105795"/>
            <a:ext cx="435292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663952" y="4987500"/>
            <a:ext cx="4352925" cy="8898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42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초기화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7" y="3463281"/>
            <a:ext cx="576262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3331123" y="3477766"/>
            <a:ext cx="5791199" cy="10081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65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타입 캐스팅</a:t>
            </a:r>
            <a:endParaRPr lang="en-US" altLang="ko-KR" dirty="0"/>
          </a:p>
          <a:p>
            <a:pPr lvl="1"/>
            <a:r>
              <a:rPr lang="ko-KR" altLang="en-US" dirty="0"/>
              <a:t>정보를 잃게 될 가능성이 있을 경우 명확하게 표시를 해 줘야 함</a:t>
            </a:r>
            <a:endParaRPr lang="en-US" altLang="ko-KR" dirty="0"/>
          </a:p>
          <a:p>
            <a:pPr lvl="2"/>
            <a:r>
              <a:rPr lang="en-US" altLang="ko-KR" dirty="0"/>
              <a:t>Ex : double </a:t>
            </a:r>
            <a:r>
              <a:rPr lang="en-US" altLang="ko-KR" dirty="0">
                <a:sym typeface="Wingdings" pitchFamily="2" charset="2"/>
              </a:rPr>
              <a:t> float, float  </a:t>
            </a:r>
            <a:r>
              <a:rPr lang="en-US" altLang="ko-KR" dirty="0" err="1">
                <a:sym typeface="Wingdings" pitchFamily="2" charset="2"/>
              </a:rPr>
              <a:t>int</a:t>
            </a:r>
            <a:r>
              <a:rPr lang="en-US" altLang="ko-KR" dirty="0">
                <a:sym typeface="Wingdings" pitchFamily="2" charset="2"/>
              </a:rPr>
              <a:t>, </a:t>
            </a:r>
            <a:r>
              <a:rPr lang="en-US" altLang="ko-KR" dirty="0" err="1">
                <a:sym typeface="Wingdings" pitchFamily="2" charset="2"/>
              </a:rPr>
              <a:t>uint</a:t>
            </a:r>
            <a:r>
              <a:rPr lang="en-US" altLang="ko-KR" dirty="0">
                <a:sym typeface="Wingdings" pitchFamily="2" charset="2"/>
              </a:rPr>
              <a:t>  </a:t>
            </a:r>
            <a:r>
              <a:rPr lang="en-US" altLang="ko-KR" dirty="0" err="1">
                <a:sym typeface="Wingdings" pitchFamily="2" charset="2"/>
              </a:rPr>
              <a:t>int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4357666"/>
            <a:ext cx="5248275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5" y="5773906"/>
            <a:ext cx="273367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80176" y="42210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그냥</a:t>
            </a:r>
            <a:r>
              <a:rPr lang="en-US" altLang="ko-KR" dirty="0"/>
              <a:t> </a:t>
            </a:r>
            <a:r>
              <a:rPr lang="ko-KR" altLang="en-US" dirty="0"/>
              <a:t>변경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176" y="6055071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타입 캐스팅 필요</a:t>
            </a:r>
          </a:p>
        </p:txBody>
      </p:sp>
    </p:spTree>
    <p:extLst>
      <p:ext uri="{BB962C8B-B14F-4D97-AF65-F5344CB8AC3E}">
        <p14:creationId xmlns:p14="http://schemas.microsoft.com/office/powerpoint/2010/main" val="4057017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집합체 타입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2708920"/>
            <a:ext cx="8784976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8347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집합체 타입 선언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99" y="2996953"/>
            <a:ext cx="52197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300" y="4293097"/>
            <a:ext cx="73437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300" y="5445225"/>
            <a:ext cx="389572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3503712" y="4221088"/>
            <a:ext cx="7472363" cy="4320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68005" y="2909515"/>
            <a:ext cx="5320879" cy="4320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4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집합체 타입 선언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455" y="2472903"/>
            <a:ext cx="41529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149" y="3501008"/>
            <a:ext cx="1924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8919329" y="3801999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331" y="3348435"/>
            <a:ext cx="591502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오른쪽 화살표 13"/>
          <p:cNvSpPr/>
          <p:nvPr/>
        </p:nvSpPr>
        <p:spPr>
          <a:xfrm rot="18845396">
            <a:off x="8919329" y="5465052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905" y="4702097"/>
            <a:ext cx="436245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오른쪽 화살표 12"/>
          <p:cNvSpPr/>
          <p:nvPr/>
        </p:nvSpPr>
        <p:spPr>
          <a:xfrm rot="1890669">
            <a:off x="8936515" y="2769451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448584" y="4674963"/>
            <a:ext cx="4359771" cy="1957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893330" y="3329385"/>
            <a:ext cx="5915024" cy="12096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655456" y="2493864"/>
            <a:ext cx="4152899" cy="7219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430799" y="4702098"/>
            <a:ext cx="2075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Column major matrices</a:t>
            </a:r>
          </a:p>
        </p:txBody>
      </p:sp>
    </p:spTree>
    <p:extLst>
      <p:ext uri="{BB962C8B-B14F-4D97-AF65-F5344CB8AC3E}">
        <p14:creationId xmlns:p14="http://schemas.microsoft.com/office/powerpoint/2010/main" val="3259482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집합체 캐스팅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19" y="2857500"/>
            <a:ext cx="52006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3152775"/>
            <a:ext cx="43338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4297660"/>
            <a:ext cx="2676525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19" y="5521795"/>
            <a:ext cx="73533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3576117" y="2857500"/>
            <a:ext cx="5200253" cy="571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575720" y="4254796"/>
            <a:ext cx="2736304" cy="571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576117" y="5489426"/>
            <a:ext cx="7352903" cy="571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460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35560" y="4149080"/>
            <a:ext cx="3816424" cy="2232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집합체 사용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4293097"/>
            <a:ext cx="33337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5085185"/>
            <a:ext cx="34861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2353247"/>
            <a:ext cx="764857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253" y="5949281"/>
            <a:ext cx="27717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6240016" y="4149080"/>
            <a:ext cx="3816424" cy="2232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978" y="4293096"/>
            <a:ext cx="32385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160" y="4722280"/>
            <a:ext cx="2266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곱하기 기호 4">
            <a:extLst>
              <a:ext uri="{FF2B5EF4-FFF2-40B4-BE49-F238E27FC236}">
                <a16:creationId xmlns:a16="http://schemas.microsoft.com/office/drawing/2014/main" id="{822C7014-5554-9077-3177-A70B80D4671E}"/>
              </a:ext>
            </a:extLst>
          </p:cNvPr>
          <p:cNvSpPr/>
          <p:nvPr/>
        </p:nvSpPr>
        <p:spPr>
          <a:xfrm>
            <a:off x="8722322" y="5356038"/>
            <a:ext cx="1080120" cy="6854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원형: 비어 있음 5">
            <a:extLst>
              <a:ext uri="{FF2B5EF4-FFF2-40B4-BE49-F238E27FC236}">
                <a16:creationId xmlns:a16="http://schemas.microsoft.com/office/drawing/2014/main" id="{E98EC6CE-1D10-528A-521C-DA0FA05F1089}"/>
              </a:ext>
            </a:extLst>
          </p:cNvPr>
          <p:cNvSpPr/>
          <p:nvPr/>
        </p:nvSpPr>
        <p:spPr>
          <a:xfrm>
            <a:off x="5303912" y="5791200"/>
            <a:ext cx="576064" cy="483453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72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028436" y="3326048"/>
            <a:ext cx="3680792" cy="12003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집합체 사용 연습문제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256" y="3516637"/>
            <a:ext cx="340042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8501316" y="3770959"/>
            <a:ext cx="360040" cy="310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129935" y="3326046"/>
            <a:ext cx="2376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m?</a:t>
            </a:r>
          </a:p>
          <a:p>
            <a:r>
              <a:rPr lang="en-US" altLang="ko-KR" sz="2400" dirty="0" err="1">
                <a:solidFill>
                  <a:srgbClr val="FF0000"/>
                </a:solidFill>
              </a:rPr>
              <a:t>zVec</a:t>
            </a:r>
            <a:r>
              <a:rPr lang="en-US" altLang="ko-KR" sz="2400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ko-KR" sz="2400" dirty="0" err="1">
                <a:solidFill>
                  <a:srgbClr val="FF0000"/>
                </a:solidFill>
              </a:rPr>
              <a:t>yScale</a:t>
            </a:r>
            <a:r>
              <a:rPr lang="en-US" altLang="ko-KR" sz="2400" dirty="0">
                <a:solidFill>
                  <a:srgbClr val="FF0000"/>
                </a:solidFill>
              </a:rPr>
              <a:t>?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091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선언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2673661"/>
            <a:ext cx="82581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064" y="4581128"/>
            <a:ext cx="847725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752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95500" y="2761655"/>
            <a:ext cx="4176464" cy="1944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float </a:t>
            </a:r>
            <a:r>
              <a:rPr lang="en-US" altLang="ko-KR" sz="2000" dirty="0" err="1">
                <a:solidFill>
                  <a:schemeClr val="tx1"/>
                </a:solidFill>
              </a:rPr>
              <a:t>addSome</a:t>
            </a:r>
            <a:r>
              <a:rPr lang="en-US" altLang="ko-KR" sz="2000" dirty="0">
                <a:solidFill>
                  <a:schemeClr val="tx1"/>
                </a:solidFill>
              </a:rPr>
              <a:t>(float a, out float b)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{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a = a+1.0;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b = a;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Return </a:t>
            </a:r>
            <a:r>
              <a:rPr lang="en-US" altLang="ko-KR" sz="2000" dirty="0" err="1">
                <a:solidFill>
                  <a:schemeClr val="tx1"/>
                </a:solidFill>
              </a:rPr>
              <a:t>a+b</a:t>
            </a:r>
            <a:r>
              <a:rPr lang="en-US" altLang="ko-KR" sz="2000" dirty="0">
                <a:solidFill>
                  <a:schemeClr val="tx1"/>
                </a:solidFill>
              </a:rPr>
              <a:t>;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}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 Shading Language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/>
          <a:lstStyle/>
          <a:p>
            <a:r>
              <a:rPr lang="ko-KR" altLang="en-US" dirty="0"/>
              <a:t>함수 선언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5879977" y="2761655"/>
            <a:ext cx="4642121" cy="1944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float </a:t>
            </a:r>
            <a:r>
              <a:rPr lang="en-US" altLang="ko-KR" sz="2000" dirty="0" err="1">
                <a:solidFill>
                  <a:schemeClr val="tx1"/>
                </a:solidFill>
              </a:rPr>
              <a:t>addSome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</a:rPr>
              <a:t>const</a:t>
            </a:r>
            <a:r>
              <a:rPr lang="en-US" altLang="ko-KR" sz="2000" dirty="0">
                <a:solidFill>
                  <a:schemeClr val="tx1"/>
                </a:solidFill>
              </a:rPr>
              <a:t> in float a, float b)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{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a = a+1.0;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b = a;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Return </a:t>
            </a:r>
            <a:r>
              <a:rPr lang="en-US" altLang="ko-KR" sz="2000" dirty="0" err="1">
                <a:solidFill>
                  <a:schemeClr val="tx1"/>
                </a:solidFill>
              </a:rPr>
              <a:t>a+b</a:t>
            </a:r>
            <a:r>
              <a:rPr lang="en-US" altLang="ko-KR" sz="2000" dirty="0">
                <a:solidFill>
                  <a:schemeClr val="tx1"/>
                </a:solidFill>
              </a:rPr>
              <a:t>;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}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95500" y="4797152"/>
            <a:ext cx="4392488" cy="1944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float </a:t>
            </a:r>
            <a:r>
              <a:rPr lang="en-US" altLang="ko-KR" sz="2000" dirty="0" err="1">
                <a:solidFill>
                  <a:schemeClr val="tx1"/>
                </a:solidFill>
              </a:rPr>
              <a:t>addSome</a:t>
            </a:r>
            <a:r>
              <a:rPr lang="en-US" altLang="ko-KR" sz="2000" dirty="0">
                <a:solidFill>
                  <a:schemeClr val="tx1"/>
                </a:solidFill>
              </a:rPr>
              <a:t>(float a, </a:t>
            </a:r>
            <a:r>
              <a:rPr lang="en-US" altLang="ko-KR" sz="2000" dirty="0" err="1">
                <a:solidFill>
                  <a:schemeClr val="tx1"/>
                </a:solidFill>
              </a:rPr>
              <a:t>inout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>
                <a:solidFill>
                  <a:schemeClr val="tx1"/>
                </a:solidFill>
              </a:rPr>
              <a:t>float b)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{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a = a+1.0;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b = a;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Return </a:t>
            </a:r>
            <a:r>
              <a:rPr lang="en-US" altLang="ko-KR" sz="2000" dirty="0" err="1">
                <a:solidFill>
                  <a:schemeClr val="tx1"/>
                </a:solidFill>
              </a:rPr>
              <a:t>a+b</a:t>
            </a:r>
            <a:r>
              <a:rPr lang="en-US" altLang="ko-KR" sz="2000" dirty="0">
                <a:solidFill>
                  <a:schemeClr val="tx1"/>
                </a:solidFill>
              </a:rPr>
              <a:t>;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}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096001" y="4814647"/>
            <a:ext cx="4426097" cy="1944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float </a:t>
            </a:r>
            <a:r>
              <a:rPr lang="en-US" altLang="ko-KR" sz="2000" dirty="0" err="1">
                <a:solidFill>
                  <a:schemeClr val="tx1"/>
                </a:solidFill>
              </a:rPr>
              <a:t>addSome</a:t>
            </a:r>
            <a:r>
              <a:rPr lang="en-US" altLang="ko-KR" sz="2000" dirty="0">
                <a:solidFill>
                  <a:schemeClr val="tx1"/>
                </a:solidFill>
              </a:rPr>
              <a:t>(in float a, float b)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{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a = a+1.0;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b = a;</a:t>
            </a:r>
          </a:p>
          <a:p>
            <a:pPr lvl="1"/>
            <a:r>
              <a:rPr lang="en-US" altLang="ko-KR" sz="2000" dirty="0">
                <a:solidFill>
                  <a:schemeClr val="tx1"/>
                </a:solidFill>
              </a:rPr>
              <a:t>Return </a:t>
            </a:r>
            <a:r>
              <a:rPr lang="en-US" altLang="ko-KR" sz="2000" dirty="0" err="1">
                <a:solidFill>
                  <a:schemeClr val="tx1"/>
                </a:solidFill>
              </a:rPr>
              <a:t>a+b</a:t>
            </a:r>
            <a:r>
              <a:rPr lang="en-US" altLang="ko-KR" sz="2000" dirty="0">
                <a:solidFill>
                  <a:schemeClr val="tx1"/>
                </a:solidFill>
              </a:rPr>
              <a:t>;</a:t>
            </a:r>
          </a:p>
          <a:p>
            <a:r>
              <a:rPr lang="en-US" altLang="ko-KR" sz="2000" dirty="0">
                <a:solidFill>
                  <a:schemeClr val="tx1"/>
                </a:solidFill>
              </a:rPr>
              <a:t>}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020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입출력</a:t>
            </a:r>
          </a:p>
        </p:txBody>
      </p:sp>
    </p:spTree>
    <p:extLst>
      <p:ext uri="{BB962C8B-B14F-4D97-AF65-F5344CB8AC3E}">
        <p14:creationId xmlns:p14="http://schemas.microsoft.com/office/powerpoint/2010/main" val="2424106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입출력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en-US" altLang="ko-KR" dirty="0"/>
              <a:t>Shader</a:t>
            </a:r>
            <a:r>
              <a:rPr lang="ko-KR" altLang="en-US" dirty="0"/>
              <a:t> 단위로 입력 값과 출력 값이 있으며 고유의 입출력 값과 사용자 정의 입출력 값이 있음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4897380" y="3356992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28248" y="3246946"/>
            <a:ext cx="2339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사용자가 정의한 </a:t>
            </a:r>
            <a:r>
              <a:rPr lang="en-US" altLang="ko-KR" dirty="0">
                <a:solidFill>
                  <a:srgbClr val="FF0000"/>
                </a:solidFill>
              </a:rPr>
              <a:t>VS </a:t>
            </a:r>
            <a:r>
              <a:rPr lang="ko-KR" altLang="en-US" dirty="0">
                <a:solidFill>
                  <a:srgbClr val="FF0000"/>
                </a:solidFill>
              </a:rPr>
              <a:t>출력 값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OpenGL </a:t>
            </a:r>
            <a:r>
              <a:rPr lang="ko-KR" altLang="en-US" dirty="0"/>
              <a:t>고유의 출력 값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gl_Position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gl_PointSize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/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3246946"/>
            <a:ext cx="2304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사용자가 정의한 입력 값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OpenGL </a:t>
            </a:r>
            <a:r>
              <a:rPr lang="ko-KR" altLang="en-US" dirty="0"/>
              <a:t>고유의 입력 값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gl_VertexID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gl_InstanceID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/>
              <a:t>…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4295800" y="3933056"/>
            <a:ext cx="432048" cy="93610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7752184" y="3933056"/>
            <a:ext cx="432048" cy="93610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059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입출력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en-US" altLang="ko-KR" dirty="0"/>
              <a:t>Shader</a:t>
            </a:r>
            <a:r>
              <a:rPr lang="ko-KR" altLang="en-US" dirty="0"/>
              <a:t> 단위로 입력 값과 출력 값이 있으며 고유의 입출력 값과 사용자 정의 입출력 값이 있음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4897380" y="3356992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28248" y="3246947"/>
            <a:ext cx="23397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사용자가 정의한 </a:t>
            </a:r>
            <a:r>
              <a:rPr lang="en-US" altLang="ko-KR" dirty="0">
                <a:solidFill>
                  <a:srgbClr val="FF0000"/>
                </a:solidFill>
              </a:rPr>
              <a:t>FS </a:t>
            </a:r>
            <a:r>
              <a:rPr lang="ko-KR" altLang="en-US" dirty="0">
                <a:solidFill>
                  <a:srgbClr val="FF0000"/>
                </a:solidFill>
              </a:rPr>
              <a:t>출력 값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OpenGL </a:t>
            </a:r>
            <a:r>
              <a:rPr lang="ko-KR" altLang="en-US" dirty="0"/>
              <a:t>고유의 출력 값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gl_FragDepth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/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3512" y="3246947"/>
            <a:ext cx="25922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사용자가 정의한 </a:t>
            </a:r>
            <a:r>
              <a:rPr lang="en-US" altLang="ko-KR" dirty="0">
                <a:solidFill>
                  <a:srgbClr val="FF0000"/>
                </a:solidFill>
              </a:rPr>
              <a:t>FS </a:t>
            </a:r>
            <a:r>
              <a:rPr lang="ko-KR" altLang="en-US" dirty="0">
                <a:solidFill>
                  <a:srgbClr val="FF0000"/>
                </a:solidFill>
              </a:rPr>
              <a:t>입력 값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OpenGL </a:t>
            </a:r>
            <a:r>
              <a:rPr lang="ko-KR" altLang="en-US" dirty="0"/>
              <a:t>고유의 입력 값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gl_FragCoord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gl_FrontFacing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 err="1"/>
              <a:t>gl_PointCoord</a:t>
            </a:r>
            <a:endParaRPr lang="en-US" altLang="ko-KR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4295800" y="3933056"/>
            <a:ext cx="432048" cy="93610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7752184" y="3933056"/>
            <a:ext cx="432048" cy="93610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413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오른쪽 화살표 96"/>
          <p:cNvSpPr/>
          <p:nvPr/>
        </p:nvSpPr>
        <p:spPr>
          <a:xfrm>
            <a:off x="6168008" y="2420888"/>
            <a:ext cx="288032" cy="50020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입출력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3026622" y="2072258"/>
            <a:ext cx="1269178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4875117" y="2072258"/>
            <a:ext cx="1410821" cy="12241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Assembly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409636" y="2072258"/>
            <a:ext cx="1753365" cy="12241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Rasterization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Interpolation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꺾인 연결선 8"/>
          <p:cNvCxnSpPr>
            <a:stCxn id="4" idx="3"/>
            <a:endCxn id="22" idx="1"/>
          </p:cNvCxnSpPr>
          <p:nvPr/>
        </p:nvCxnSpPr>
        <p:spPr>
          <a:xfrm flipH="1">
            <a:off x="3888482" y="2684327"/>
            <a:ext cx="407319" cy="1576865"/>
          </a:xfrm>
          <a:prstGeom prst="bentConnector5">
            <a:avLst>
              <a:gd name="adj1" fmla="val -56123"/>
              <a:gd name="adj2" fmla="val 56233"/>
              <a:gd name="adj3" fmla="val 15612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/>
        </p:nvSpPr>
        <p:spPr>
          <a:xfrm>
            <a:off x="8779776" y="2072259"/>
            <a:ext cx="1461364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537859" y="1800033"/>
            <a:ext cx="113894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사용자가 정의한 </a:t>
            </a:r>
            <a:r>
              <a:rPr lang="en-US" altLang="ko-KR" sz="1600" dirty="0">
                <a:solidFill>
                  <a:srgbClr val="FF0000"/>
                </a:solidFill>
              </a:rPr>
              <a:t>VS </a:t>
            </a:r>
            <a:r>
              <a:rPr lang="ko-KR" altLang="en-US" sz="1600" dirty="0">
                <a:solidFill>
                  <a:srgbClr val="FF0000"/>
                </a:solidFill>
              </a:rPr>
              <a:t>입력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888482" y="3845693"/>
            <a:ext cx="1301813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사용자가 정의한 </a:t>
            </a:r>
            <a:r>
              <a:rPr lang="en-US" altLang="ko-KR" sz="1600" dirty="0">
                <a:solidFill>
                  <a:srgbClr val="FF0000"/>
                </a:solidFill>
              </a:rPr>
              <a:t>VS </a:t>
            </a:r>
            <a:r>
              <a:rPr lang="ko-KR" altLang="en-US" sz="1600" dirty="0">
                <a:solidFill>
                  <a:srgbClr val="FF0000"/>
                </a:solidFill>
              </a:rPr>
              <a:t>출력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24" name="꺾인 연결선 23"/>
          <p:cNvCxnSpPr>
            <a:stCxn id="10" idx="3"/>
            <a:endCxn id="27" idx="3"/>
          </p:cNvCxnSpPr>
          <p:nvPr/>
        </p:nvCxnSpPr>
        <p:spPr>
          <a:xfrm flipH="1">
            <a:off x="10160514" y="2684327"/>
            <a:ext cx="80626" cy="3252786"/>
          </a:xfrm>
          <a:prstGeom prst="bentConnector3">
            <a:avLst>
              <a:gd name="adj1" fmla="val -28353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779776" y="5675503"/>
            <a:ext cx="13807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사용자가 정의한 </a:t>
            </a:r>
            <a:r>
              <a:rPr lang="en-US" altLang="ko-KR" sz="1400" dirty="0">
                <a:solidFill>
                  <a:srgbClr val="FF0000"/>
                </a:solidFill>
              </a:rPr>
              <a:t>FS </a:t>
            </a:r>
            <a:r>
              <a:rPr lang="ko-KR" altLang="en-US" sz="1400" dirty="0">
                <a:solidFill>
                  <a:srgbClr val="FF0000"/>
                </a:solidFill>
              </a:rPr>
              <a:t>출력 값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537859" y="2813357"/>
            <a:ext cx="113894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고유의 </a:t>
            </a:r>
            <a:r>
              <a:rPr lang="en-US" altLang="ko-KR" sz="1600" dirty="0">
                <a:solidFill>
                  <a:srgbClr val="FF0000"/>
                </a:solidFill>
              </a:rPr>
              <a:t>VS</a:t>
            </a:r>
            <a:r>
              <a:rPr lang="ko-KR" altLang="en-US" sz="1600" dirty="0">
                <a:solidFill>
                  <a:srgbClr val="FF0000"/>
                </a:solidFill>
              </a:rPr>
              <a:t>입력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8" name="꺾인 연결선 7"/>
          <p:cNvCxnSpPr>
            <a:stCxn id="14" idx="3"/>
            <a:endCxn id="4" idx="1"/>
          </p:cNvCxnSpPr>
          <p:nvPr/>
        </p:nvCxnSpPr>
        <p:spPr>
          <a:xfrm>
            <a:off x="2676804" y="2215532"/>
            <a:ext cx="349819" cy="4687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2" idx="3"/>
            <a:endCxn id="4" idx="1"/>
          </p:cNvCxnSpPr>
          <p:nvPr/>
        </p:nvCxnSpPr>
        <p:spPr>
          <a:xfrm flipV="1">
            <a:off x="2676804" y="2684326"/>
            <a:ext cx="349819" cy="421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3888483" y="4881656"/>
            <a:ext cx="13018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고유의 </a:t>
            </a:r>
            <a:r>
              <a:rPr lang="en-US" altLang="ko-KR" sz="1600" dirty="0">
                <a:solidFill>
                  <a:srgbClr val="FF0000"/>
                </a:solidFill>
              </a:rPr>
              <a:t>VS </a:t>
            </a:r>
            <a:r>
              <a:rPr lang="ko-KR" altLang="en-US" sz="1600" dirty="0">
                <a:solidFill>
                  <a:srgbClr val="FF0000"/>
                </a:solidFill>
              </a:rPr>
              <a:t>출력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36" name="꺾인 연결선 35"/>
          <p:cNvCxnSpPr>
            <a:stCxn id="4" idx="3"/>
            <a:endCxn id="33" idx="1"/>
          </p:cNvCxnSpPr>
          <p:nvPr/>
        </p:nvCxnSpPr>
        <p:spPr>
          <a:xfrm flipH="1">
            <a:off x="3888482" y="2684327"/>
            <a:ext cx="407318" cy="2489717"/>
          </a:xfrm>
          <a:prstGeom prst="bentConnector5">
            <a:avLst>
              <a:gd name="adj1" fmla="val -56123"/>
              <a:gd name="adj2" fmla="val 35584"/>
              <a:gd name="adj3" fmla="val 1561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22" idx="3"/>
            <a:endCxn id="5" idx="1"/>
          </p:cNvCxnSpPr>
          <p:nvPr/>
        </p:nvCxnSpPr>
        <p:spPr>
          <a:xfrm flipH="1" flipV="1">
            <a:off x="4875116" y="2684327"/>
            <a:ext cx="315178" cy="1576865"/>
          </a:xfrm>
          <a:prstGeom prst="bentConnector5">
            <a:avLst>
              <a:gd name="adj1" fmla="val -72530"/>
              <a:gd name="adj2" fmla="val 43767"/>
              <a:gd name="adj3" fmla="val 1725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3" idx="3"/>
            <a:endCxn id="5" idx="1"/>
          </p:cNvCxnSpPr>
          <p:nvPr/>
        </p:nvCxnSpPr>
        <p:spPr>
          <a:xfrm flipH="1" flipV="1">
            <a:off x="4875117" y="2684327"/>
            <a:ext cx="315179" cy="2489717"/>
          </a:xfrm>
          <a:prstGeom prst="bentConnector5">
            <a:avLst>
              <a:gd name="adj1" fmla="val -72530"/>
              <a:gd name="adj2" fmla="val 64416"/>
              <a:gd name="adj3" fmla="val 1725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8779776" y="6261949"/>
            <a:ext cx="13807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고유의</a:t>
            </a:r>
            <a:r>
              <a:rPr lang="en-US" altLang="ko-KR" sz="1400" dirty="0">
                <a:solidFill>
                  <a:srgbClr val="FF0000"/>
                </a:solidFill>
              </a:rPr>
              <a:t> FS </a:t>
            </a:r>
            <a:r>
              <a:rPr lang="ko-KR" altLang="en-US" sz="1400" dirty="0">
                <a:solidFill>
                  <a:srgbClr val="FF0000"/>
                </a:solidFill>
              </a:rPr>
              <a:t>출력 값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7820482" y="3845692"/>
            <a:ext cx="1301813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사용자가 정의한 </a:t>
            </a:r>
            <a:r>
              <a:rPr lang="en-US" altLang="ko-KR" sz="1600" dirty="0">
                <a:solidFill>
                  <a:srgbClr val="FF0000"/>
                </a:solidFill>
              </a:rPr>
              <a:t>FS</a:t>
            </a:r>
            <a:r>
              <a:rPr lang="ko-KR" altLang="en-US" sz="1600" dirty="0">
                <a:solidFill>
                  <a:srgbClr val="FF0000"/>
                </a:solidFill>
              </a:rPr>
              <a:t> 입력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817370" y="4881656"/>
            <a:ext cx="130181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고유의 </a:t>
            </a:r>
            <a:r>
              <a:rPr lang="en-US" altLang="ko-KR" sz="1600" dirty="0">
                <a:solidFill>
                  <a:srgbClr val="FF0000"/>
                </a:solidFill>
              </a:rPr>
              <a:t>FS </a:t>
            </a:r>
            <a:r>
              <a:rPr lang="ko-KR" altLang="en-US" sz="1600" dirty="0">
                <a:solidFill>
                  <a:srgbClr val="FF0000"/>
                </a:solidFill>
              </a:rPr>
              <a:t>입력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102" name="꺾인 연결선 101"/>
          <p:cNvCxnSpPr>
            <a:stCxn id="10" idx="3"/>
            <a:endCxn id="81" idx="3"/>
          </p:cNvCxnSpPr>
          <p:nvPr/>
        </p:nvCxnSpPr>
        <p:spPr>
          <a:xfrm flipH="1">
            <a:off x="10160514" y="2684327"/>
            <a:ext cx="80626" cy="3839232"/>
          </a:xfrm>
          <a:prstGeom prst="bentConnector3">
            <a:avLst>
              <a:gd name="adj1" fmla="val -2835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6" idx="3"/>
            <a:endCxn id="94" idx="1"/>
          </p:cNvCxnSpPr>
          <p:nvPr/>
        </p:nvCxnSpPr>
        <p:spPr>
          <a:xfrm flipH="1">
            <a:off x="7820482" y="2684326"/>
            <a:ext cx="342519" cy="1576864"/>
          </a:xfrm>
          <a:prstGeom prst="bentConnector5">
            <a:avLst>
              <a:gd name="adj1" fmla="val -66741"/>
              <a:gd name="adj2" fmla="val 56233"/>
              <a:gd name="adj3" fmla="val 1667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6" idx="3"/>
            <a:endCxn id="95" idx="1"/>
          </p:cNvCxnSpPr>
          <p:nvPr/>
        </p:nvCxnSpPr>
        <p:spPr>
          <a:xfrm flipH="1">
            <a:off x="7817370" y="2684327"/>
            <a:ext cx="345631" cy="2489717"/>
          </a:xfrm>
          <a:prstGeom prst="bentConnector5">
            <a:avLst>
              <a:gd name="adj1" fmla="val -66140"/>
              <a:gd name="adj2" fmla="val 35583"/>
              <a:gd name="adj3" fmla="val 1661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94" idx="3"/>
            <a:endCxn id="10" idx="1"/>
          </p:cNvCxnSpPr>
          <p:nvPr/>
        </p:nvCxnSpPr>
        <p:spPr>
          <a:xfrm flipH="1" flipV="1">
            <a:off x="8779776" y="2684328"/>
            <a:ext cx="342518" cy="1576863"/>
          </a:xfrm>
          <a:prstGeom prst="bentConnector5">
            <a:avLst>
              <a:gd name="adj1" fmla="val -66741"/>
              <a:gd name="adj2" fmla="val 43767"/>
              <a:gd name="adj3" fmla="val 1667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95" idx="3"/>
            <a:endCxn id="10" idx="1"/>
          </p:cNvCxnSpPr>
          <p:nvPr/>
        </p:nvCxnSpPr>
        <p:spPr>
          <a:xfrm flipH="1" flipV="1">
            <a:off x="8779776" y="2684327"/>
            <a:ext cx="339406" cy="2489716"/>
          </a:xfrm>
          <a:prstGeom prst="bentConnector5">
            <a:avLst>
              <a:gd name="adj1" fmla="val -67353"/>
              <a:gd name="adj2" fmla="val 64062"/>
              <a:gd name="adj3" fmla="val 1673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폭발 2 113"/>
          <p:cNvSpPr/>
          <p:nvPr/>
        </p:nvSpPr>
        <p:spPr>
          <a:xfrm>
            <a:off x="1551769" y="3341635"/>
            <a:ext cx="1251102" cy="1008112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폭발 2 114"/>
          <p:cNvSpPr/>
          <p:nvPr/>
        </p:nvSpPr>
        <p:spPr>
          <a:xfrm>
            <a:off x="3979506" y="5466430"/>
            <a:ext cx="1251102" cy="1008112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폭발 2 115"/>
          <p:cNvSpPr/>
          <p:nvPr/>
        </p:nvSpPr>
        <p:spPr>
          <a:xfrm>
            <a:off x="7464673" y="5446372"/>
            <a:ext cx="1251102" cy="1008112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폭발 2 116"/>
          <p:cNvSpPr/>
          <p:nvPr/>
        </p:nvSpPr>
        <p:spPr>
          <a:xfrm>
            <a:off x="9369921" y="4718168"/>
            <a:ext cx="1251102" cy="1008112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21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15" grpId="0" animBg="1"/>
      <p:bldP spid="116" grpId="0" animBg="1"/>
      <p:bldP spid="1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Vertex </a:t>
            </a:r>
            <a:r>
              <a:rPr lang="en-US" altLang="ko-KR" dirty="0" err="1"/>
              <a:t>shader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2453380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Vertex Shader </a:t>
            </a:r>
            <a:r>
              <a:rPr lang="ko-KR" altLang="en-US" dirty="0"/>
              <a:t>입력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975411" y="1803530"/>
            <a:ext cx="47574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</a:rPr>
              <a:t>사용자가 정의한 </a:t>
            </a:r>
            <a:r>
              <a:rPr lang="en-US" altLang="ko-KR" sz="2400" dirty="0">
                <a:solidFill>
                  <a:srgbClr val="FF0000"/>
                </a:solidFill>
              </a:rPr>
              <a:t>VS </a:t>
            </a:r>
            <a:r>
              <a:rPr lang="ko-KR" altLang="en-US" sz="2400" dirty="0">
                <a:solidFill>
                  <a:srgbClr val="FF0000"/>
                </a:solidFill>
              </a:rPr>
              <a:t>입력 값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</a:rPr>
              <a:t>Attribute </a:t>
            </a:r>
            <a:r>
              <a:rPr lang="ko-KR" altLang="en-US" sz="2400" dirty="0">
                <a:solidFill>
                  <a:srgbClr val="FF0000"/>
                </a:solidFill>
              </a:rPr>
              <a:t>라 칭함</a:t>
            </a:r>
            <a:endParaRPr lang="en-US" altLang="ko-KR" sz="2400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346649" y="5373216"/>
            <a:ext cx="569437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glEnableVertexAttribArray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VBO);</a:t>
            </a:r>
          </a:p>
          <a:p>
            <a:r>
              <a:rPr lang="en-US" altLang="ko-KR" dirty="0" err="1"/>
              <a:t>glVertexAttribPointer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, 3, GL_FLOAT, GL_FALSE, 0, 0);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6771849" y="3461912"/>
            <a:ext cx="1269178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283086" y="3189687"/>
            <a:ext cx="113894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사용자가 정의한 </a:t>
            </a:r>
            <a:r>
              <a:rPr lang="en-US" altLang="ko-KR" sz="1600" dirty="0">
                <a:solidFill>
                  <a:srgbClr val="FF0000"/>
                </a:solidFill>
              </a:rPr>
              <a:t>VS </a:t>
            </a:r>
            <a:r>
              <a:rPr lang="ko-KR" altLang="en-US" sz="1600" dirty="0">
                <a:solidFill>
                  <a:srgbClr val="FF0000"/>
                </a:solidFill>
              </a:rPr>
              <a:t>입력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283086" y="4203011"/>
            <a:ext cx="113894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고유의 </a:t>
            </a:r>
            <a:r>
              <a:rPr lang="en-US" altLang="ko-KR" sz="1600" dirty="0">
                <a:solidFill>
                  <a:srgbClr val="FF0000"/>
                </a:solidFill>
              </a:rPr>
              <a:t>VS</a:t>
            </a:r>
            <a:r>
              <a:rPr lang="ko-KR" altLang="en-US" sz="1600" dirty="0">
                <a:solidFill>
                  <a:srgbClr val="FF0000"/>
                </a:solidFill>
              </a:rPr>
              <a:t>입력 값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11" name="꺾인 연결선 10"/>
          <p:cNvCxnSpPr>
            <a:stCxn id="9" idx="3"/>
            <a:endCxn id="7" idx="1"/>
          </p:cNvCxnSpPr>
          <p:nvPr/>
        </p:nvCxnSpPr>
        <p:spPr>
          <a:xfrm>
            <a:off x="6422031" y="3605186"/>
            <a:ext cx="349819" cy="4687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10" idx="3"/>
            <a:endCxn id="7" idx="1"/>
          </p:cNvCxnSpPr>
          <p:nvPr/>
        </p:nvCxnSpPr>
        <p:spPr>
          <a:xfrm flipV="1">
            <a:off x="6422031" y="4073980"/>
            <a:ext cx="349819" cy="421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4224535" y="3404211"/>
            <a:ext cx="1104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Attribute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1880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156148" y="3171825"/>
            <a:ext cx="4320852" cy="3274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Vertex Shader </a:t>
            </a:r>
            <a:r>
              <a:rPr lang="ko-KR" altLang="en-US" dirty="0"/>
              <a:t>입력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7320136" y="2852936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135560" y="2852937"/>
            <a:ext cx="5184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사용자가 정의한 입력 값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altLang="ko-KR" dirty="0"/>
              <a:t>layout (location = 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) in vec3 Position;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80659" y="5733256"/>
            <a:ext cx="569437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glEnableVertexAttribArray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VBO);</a:t>
            </a:r>
          </a:p>
          <a:p>
            <a:r>
              <a:rPr lang="en-US" altLang="ko-KR" dirty="0" err="1"/>
              <a:t>glVertexAttribPointer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, 3, GL_FLOAT, GL_FALSE, 0, 0);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cxnSpLocks/>
          </p:cNvCxnSpPr>
          <p:nvPr/>
        </p:nvCxnSpPr>
        <p:spPr>
          <a:xfrm flipH="1" flipV="1">
            <a:off x="4223792" y="3429000"/>
            <a:ext cx="288032" cy="24482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69620" y="3527720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버텍스</a:t>
            </a:r>
            <a:r>
              <a:rPr lang="ko-KR" altLang="en-US" dirty="0"/>
              <a:t> </a:t>
            </a:r>
            <a:r>
              <a:rPr lang="ko-KR" altLang="en-US" dirty="0" err="1"/>
              <a:t>셰이더</a:t>
            </a:r>
            <a:r>
              <a:rPr lang="en-US" altLang="ko-KR" dirty="0"/>
              <a:t> </a:t>
            </a:r>
            <a:r>
              <a:rPr lang="ko-KR" altLang="en-US" dirty="0"/>
              <a:t>코드의 </a:t>
            </a:r>
            <a:r>
              <a:rPr lang="en-US" altLang="ko-KR" dirty="0"/>
              <a:t>layout </a:t>
            </a:r>
            <a:r>
              <a:rPr lang="ko-KR" altLang="en-US" dirty="0"/>
              <a:t>부분과 연동됨</a:t>
            </a:r>
          </a:p>
        </p:txBody>
      </p:sp>
    </p:spTree>
    <p:extLst>
      <p:ext uri="{BB962C8B-B14F-4D97-AF65-F5344CB8AC3E}">
        <p14:creationId xmlns:p14="http://schemas.microsoft.com/office/powerpoint/2010/main" val="1970616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156148" y="3171825"/>
            <a:ext cx="4320852" cy="545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Vertex Shader </a:t>
            </a:r>
            <a:r>
              <a:rPr lang="ko-KR" altLang="en-US" dirty="0"/>
              <a:t>입력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7320136" y="2852936"/>
            <a:ext cx="2709514" cy="2088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135560" y="2852936"/>
            <a:ext cx="51845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사용자가 정의한 입력 값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/>
              <a:buChar char="à"/>
            </a:pPr>
            <a:r>
              <a:rPr lang="en-US" altLang="ko-KR" dirty="0"/>
              <a:t>layout (location = 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) in vec3 Position;</a:t>
            </a:r>
          </a:p>
          <a:p>
            <a:pPr marL="285750" indent="-285750">
              <a:buFont typeface="Wingdings"/>
              <a:buChar char="à"/>
            </a:pPr>
            <a:r>
              <a:rPr lang="en-US" altLang="ko-KR" dirty="0"/>
              <a:t>layout (location = </a:t>
            </a:r>
            <a:r>
              <a:rPr lang="en-US" altLang="ko-KR" b="1" dirty="0">
                <a:solidFill>
                  <a:srgbClr val="0070C0"/>
                </a:solidFill>
              </a:rPr>
              <a:t>1</a:t>
            </a:r>
            <a:r>
              <a:rPr lang="en-US" altLang="ko-KR" dirty="0"/>
              <a:t>) in vec3 Color;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35436" y="4797704"/>
            <a:ext cx="5700791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glEnableVertexAttribArray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VBO);</a:t>
            </a:r>
          </a:p>
          <a:p>
            <a:r>
              <a:rPr lang="en-US" altLang="ko-KR" dirty="0" err="1"/>
              <a:t>glVertexAttribPointer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, 3, GL_FLOAT, GL_FALSE, 0, 0);</a:t>
            </a:r>
          </a:p>
          <a:p>
            <a:endParaRPr lang="en-US" altLang="ko-KR" dirty="0"/>
          </a:p>
          <a:p>
            <a:r>
              <a:rPr lang="en-US" altLang="ko-KR" dirty="0" err="1"/>
              <a:t>glEnableVertexAttribArray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0070C0"/>
                </a:solidFill>
              </a:rPr>
              <a:t>1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VBO1);</a:t>
            </a:r>
          </a:p>
          <a:p>
            <a:r>
              <a:rPr lang="en-US" altLang="ko-KR" dirty="0" err="1"/>
              <a:t>glVertexAttribPointer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0070C0"/>
                </a:solidFill>
              </a:rPr>
              <a:t>1</a:t>
            </a:r>
            <a:r>
              <a:rPr lang="en-US" altLang="ko-KR" dirty="0"/>
              <a:t>, 3, GL_FLOAT, GL_FALSE, 0, 0);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76364" y="1591926"/>
            <a:ext cx="789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사용자가</a:t>
            </a:r>
            <a:r>
              <a:rPr lang="en-US" altLang="ko-KR" sz="2400" dirty="0"/>
              <a:t> </a:t>
            </a:r>
            <a:r>
              <a:rPr lang="ko-KR" altLang="en-US" sz="2400" dirty="0"/>
              <a:t>원하는 입력 값이 두 개라면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43582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Vertex Shader </a:t>
            </a:r>
            <a:r>
              <a:rPr lang="ko-KR" altLang="en-US" dirty="0"/>
              <a:t>입력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layout </a:t>
            </a:r>
            <a:r>
              <a:rPr lang="ko-KR" altLang="en-US" dirty="0"/>
              <a:t>없이도 사용 가능</a:t>
            </a:r>
            <a:endParaRPr lang="en-US" altLang="ko-KR" dirty="0"/>
          </a:p>
          <a:p>
            <a:pPr lvl="1"/>
            <a:r>
              <a:rPr lang="en-US" altLang="ko-KR" dirty="0" err="1"/>
              <a:t>GLint</a:t>
            </a:r>
            <a:r>
              <a:rPr lang="en-US" altLang="ko-KR" dirty="0"/>
              <a:t> </a:t>
            </a:r>
            <a:r>
              <a:rPr lang="en-US" altLang="ko-KR" dirty="0" err="1"/>
              <a:t>glGetAttribLocation</a:t>
            </a:r>
            <a:r>
              <a:rPr lang="en-US" altLang="ko-KR" dirty="0"/>
              <a:t>(</a:t>
            </a:r>
            <a:r>
              <a:rPr lang="en-US" altLang="ko-KR" dirty="0" err="1"/>
              <a:t>GLuint</a:t>
            </a:r>
            <a:r>
              <a:rPr lang="en-US" altLang="ko-KR" dirty="0"/>
              <a:t> program, </a:t>
            </a:r>
            <a:r>
              <a:rPr lang="en-US" altLang="ko-KR" dirty="0" err="1"/>
              <a:t>const</a:t>
            </a:r>
            <a:r>
              <a:rPr lang="en-US" altLang="ko-KR" dirty="0"/>
              <a:t> char* name);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256856" y="3473872"/>
            <a:ext cx="4320852" cy="545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236268" y="3154983"/>
            <a:ext cx="51845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사용자가 정의한 입력 값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/>
              <a:buChar char="à"/>
            </a:pPr>
            <a:r>
              <a:rPr lang="en-US" altLang="ko-KR" dirty="0"/>
              <a:t>in vec3 Position;</a:t>
            </a:r>
          </a:p>
          <a:p>
            <a:pPr marL="285750" indent="-285750">
              <a:buFont typeface="Wingdings"/>
              <a:buChar char="à"/>
            </a:pPr>
            <a:r>
              <a:rPr lang="en-US" altLang="ko-KR" dirty="0"/>
              <a:t>in vec3 Color;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207568" y="4151372"/>
            <a:ext cx="6966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ko-KR" dirty="0" err="1"/>
              <a:t>GLint</a:t>
            </a:r>
            <a:r>
              <a:rPr lang="en-US" altLang="ko-KR" dirty="0"/>
              <a:t> id0 =  </a:t>
            </a:r>
            <a:r>
              <a:rPr lang="en-US" altLang="ko-KR" dirty="0" err="1"/>
              <a:t>glGetAttribLocation</a:t>
            </a:r>
            <a:r>
              <a:rPr lang="en-US" altLang="ko-KR" dirty="0"/>
              <a:t>(program, “Position”);</a:t>
            </a:r>
          </a:p>
          <a:p>
            <a:pPr lvl="1"/>
            <a:r>
              <a:rPr lang="en-US" altLang="ko-KR" dirty="0" err="1"/>
              <a:t>GLint</a:t>
            </a:r>
            <a:r>
              <a:rPr lang="en-US" altLang="ko-KR" dirty="0"/>
              <a:t> id1 =  </a:t>
            </a:r>
            <a:r>
              <a:rPr lang="en-US" altLang="ko-KR" dirty="0" err="1"/>
              <a:t>glGetAttribLocation</a:t>
            </a:r>
            <a:r>
              <a:rPr lang="en-US" altLang="ko-KR" dirty="0"/>
              <a:t>(program, “Color”);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639964" y="4797703"/>
            <a:ext cx="78729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glEnableVertexAttribArray</a:t>
            </a:r>
            <a:r>
              <a:rPr lang="en-US" altLang="ko-KR" dirty="0"/>
              <a:t>(id0);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VBO);</a:t>
            </a:r>
          </a:p>
          <a:p>
            <a:r>
              <a:rPr lang="en-US" altLang="ko-KR" dirty="0" err="1"/>
              <a:t>glVertexAttribPointer</a:t>
            </a:r>
            <a:r>
              <a:rPr lang="en-US" altLang="ko-KR" dirty="0"/>
              <a:t>(id0, 3, GL_FLOAT, GL_FALSE, 0, 0);</a:t>
            </a:r>
          </a:p>
          <a:p>
            <a:endParaRPr lang="en-US" altLang="ko-KR" dirty="0"/>
          </a:p>
          <a:p>
            <a:r>
              <a:rPr lang="en-US" altLang="ko-KR" dirty="0" err="1"/>
              <a:t>glEnableVertexAttribArray</a:t>
            </a:r>
            <a:r>
              <a:rPr lang="en-US" altLang="ko-KR" dirty="0"/>
              <a:t>(id1);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VBO1);</a:t>
            </a:r>
          </a:p>
          <a:p>
            <a:r>
              <a:rPr lang="en-US" altLang="ko-KR" dirty="0" err="1"/>
              <a:t>glVertexAttribPointer</a:t>
            </a:r>
            <a:r>
              <a:rPr lang="en-US" altLang="ko-KR" dirty="0"/>
              <a:t>(id1, 3, GL_FLOAT, GL_FALSE, 0,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6459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shader</a:t>
            </a:r>
            <a:r>
              <a:rPr lang="en-US" altLang="ko-KR" dirty="0"/>
              <a:t> </a:t>
            </a:r>
            <a:r>
              <a:rPr lang="ko-KR" altLang="en-US" dirty="0"/>
              <a:t>외부 입력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526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외부 입력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063552" y="1700808"/>
            <a:ext cx="8033202" cy="1224136"/>
            <a:chOff x="671042" y="4581128"/>
            <a:chExt cx="7790243" cy="1224136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671042" y="4581128"/>
              <a:ext cx="1368152" cy="12241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Vertex Shader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2200897" y="4581128"/>
              <a:ext cx="1368152" cy="1224136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Primitive Assembly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3723234" y="4581128"/>
              <a:ext cx="1700336" cy="122413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Rasterization</a:t>
              </a:r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Interpolation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5586348" y="4581128"/>
              <a:ext cx="1359768" cy="12241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Fragment Shader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101517" y="4581128"/>
              <a:ext cx="1359768" cy="122413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Frame Buffer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오른쪽 화살표 8"/>
            <p:cNvSpPr/>
            <p:nvPr/>
          </p:nvSpPr>
          <p:spPr>
            <a:xfrm>
              <a:off x="2057667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오른쪽 화살표 9"/>
            <p:cNvSpPr/>
            <p:nvPr/>
          </p:nvSpPr>
          <p:spPr>
            <a:xfrm>
              <a:off x="3579873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오른쪽 화살표 10"/>
            <p:cNvSpPr/>
            <p:nvPr/>
          </p:nvSpPr>
          <p:spPr>
            <a:xfrm>
              <a:off x="5442044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오른쪽 화살표 11"/>
            <p:cNvSpPr/>
            <p:nvPr/>
          </p:nvSpPr>
          <p:spPr>
            <a:xfrm>
              <a:off x="6955352" y="4941168"/>
              <a:ext cx="144016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719736" y="4797154"/>
            <a:ext cx="36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외부</a:t>
            </a:r>
            <a:r>
              <a:rPr lang="en-US" altLang="ko-KR" dirty="0"/>
              <a:t> </a:t>
            </a:r>
            <a:r>
              <a:rPr lang="ko-KR" altLang="en-US" dirty="0"/>
              <a:t>입력 변수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시간에 관계된 변수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가중치에 관계된 변수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기타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cxnSp>
        <p:nvCxnSpPr>
          <p:cNvPr id="15" name="꺾인 연결선 14"/>
          <p:cNvCxnSpPr>
            <a:stCxn id="13" idx="0"/>
            <a:endCxn id="4" idx="2"/>
          </p:cNvCxnSpPr>
          <p:nvPr/>
        </p:nvCxnSpPr>
        <p:spPr>
          <a:xfrm rot="16200000" flipV="1">
            <a:off x="3226349" y="2467561"/>
            <a:ext cx="1872209" cy="2786977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13" idx="0"/>
            <a:endCxn id="7" idx="2"/>
          </p:cNvCxnSpPr>
          <p:nvPr/>
        </p:nvCxnSpPr>
        <p:spPr>
          <a:xfrm rot="5400000" flipH="1" flipV="1">
            <a:off x="5758488" y="2722399"/>
            <a:ext cx="1872209" cy="227730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049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외부 입력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uniform </a:t>
            </a:r>
            <a:r>
              <a:rPr lang="ko-KR" altLang="en-US" dirty="0" err="1"/>
              <a:t>선언자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en-US" altLang="ko-KR" dirty="0"/>
              <a:t>uniform </a:t>
            </a:r>
            <a:r>
              <a:rPr lang="ko-KR" altLang="en-US" dirty="0"/>
              <a:t>으로 선언된 변수는 외부에서 입력된 값을 가지고 있으며 </a:t>
            </a:r>
            <a:r>
              <a:rPr lang="ko-KR" altLang="en-US" dirty="0" err="1"/>
              <a:t>셰이더</a:t>
            </a:r>
            <a:r>
              <a:rPr lang="ko-KR" altLang="en-US" dirty="0"/>
              <a:t> 내부에선 읽기만 가능하고 쓰기는 불가능 함</a:t>
            </a:r>
            <a:endParaRPr lang="en-US" altLang="ko-KR" dirty="0"/>
          </a:p>
          <a:p>
            <a:pPr lvl="1"/>
            <a:r>
              <a:rPr lang="ko-KR" altLang="en-US"/>
              <a:t>셰이더</a:t>
            </a:r>
            <a:r>
              <a:rPr lang="en-US" altLang="ko-KR" dirty="0"/>
              <a:t> </a:t>
            </a:r>
            <a:r>
              <a:rPr lang="ko-KR" altLang="en-US" dirty="0"/>
              <a:t>전반에 걸쳐 읽기가 가능함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8983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09600" y="1628800"/>
            <a:ext cx="8654752" cy="42484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외부 입력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800" dirty="0"/>
              <a:t>layout (location = 0) in vec3 Position;</a:t>
            </a:r>
          </a:p>
          <a:p>
            <a:pPr marL="0" indent="0">
              <a:buNone/>
            </a:pPr>
            <a:endParaRPr lang="ko-KR" altLang="en-US" sz="1800" dirty="0"/>
          </a:p>
          <a:p>
            <a:pPr marL="0" indent="0">
              <a:buNone/>
            </a:pPr>
            <a:r>
              <a:rPr lang="en-US" altLang="ko-KR" sz="1800" dirty="0"/>
              <a:t>uniform float </a:t>
            </a:r>
            <a:r>
              <a:rPr lang="en-US" altLang="ko-KR" sz="1800" dirty="0" err="1"/>
              <a:t>gScale</a:t>
            </a:r>
            <a:r>
              <a:rPr lang="en-US" altLang="ko-KR" sz="1800" dirty="0"/>
              <a:t>; //</a:t>
            </a:r>
            <a:r>
              <a:rPr lang="ko-KR" altLang="en-US" sz="1800" dirty="0"/>
              <a:t>외부에서 값을 넘겨받음</a:t>
            </a: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  <a:p>
            <a:pPr marL="0" indent="0">
              <a:buNone/>
            </a:pPr>
            <a:r>
              <a:rPr lang="en-US" altLang="ko-KR" sz="1800" dirty="0"/>
              <a:t>void main()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fr-FR" altLang="ko-KR" sz="1800" dirty="0"/>
              <a:t>    gl_Position = vec4(gScale * Position.x, gScale * Position.y, Position.z, 1.0);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6146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외부 입력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sz="2400" dirty="0" err="1"/>
              <a:t>GLint</a:t>
            </a:r>
            <a:r>
              <a:rPr lang="en-US" altLang="ko-KR" sz="2400" dirty="0"/>
              <a:t> </a:t>
            </a:r>
            <a:r>
              <a:rPr lang="en-US" altLang="ko-KR" sz="2400" dirty="0" err="1"/>
              <a:t>glGetUniformLocation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GLuint</a:t>
            </a:r>
            <a:r>
              <a:rPr lang="en-US" altLang="ko-KR" sz="2400" dirty="0"/>
              <a:t> program, </a:t>
            </a:r>
            <a:r>
              <a:rPr lang="en-US" altLang="ko-KR" sz="2400" dirty="0" err="1"/>
              <a:t>const</a:t>
            </a:r>
            <a:r>
              <a:rPr lang="en-US" altLang="ko-KR" sz="2400" dirty="0"/>
              <a:t> char* name);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 err="1"/>
              <a:t>GLint</a:t>
            </a:r>
            <a:r>
              <a:rPr lang="en-US" altLang="ko-KR" sz="2400" dirty="0"/>
              <a:t> id = </a:t>
            </a:r>
            <a:r>
              <a:rPr lang="en-US" altLang="ko-KR" sz="2400" dirty="0" err="1"/>
              <a:t>glGetUniformLocation</a:t>
            </a:r>
            <a:r>
              <a:rPr lang="en-US" altLang="ko-KR" sz="2400" dirty="0"/>
              <a:t>(program, “</a:t>
            </a:r>
            <a:r>
              <a:rPr lang="en-US" altLang="ko-KR" sz="2400" dirty="0" err="1"/>
              <a:t>gScale</a:t>
            </a:r>
            <a:r>
              <a:rPr lang="en-US" altLang="ko-KR" sz="2400" dirty="0"/>
              <a:t>”);</a:t>
            </a:r>
          </a:p>
          <a:p>
            <a:endParaRPr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>
            <a:off x="2135560" y="2708920"/>
            <a:ext cx="82809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layout (location = 0) in vec3 Position;</a:t>
            </a:r>
          </a:p>
          <a:p>
            <a:endParaRPr lang="ko-KR" altLang="en-US" dirty="0"/>
          </a:p>
          <a:p>
            <a:r>
              <a:rPr lang="en-US" altLang="ko-KR" dirty="0"/>
              <a:t>uniform float </a:t>
            </a:r>
            <a:r>
              <a:rPr lang="en-US" altLang="ko-KR" dirty="0" err="1"/>
              <a:t>gScale</a:t>
            </a:r>
            <a:r>
              <a:rPr lang="en-US" altLang="ko-KR" dirty="0"/>
              <a:t>; //</a:t>
            </a:r>
            <a:r>
              <a:rPr lang="ko-KR" altLang="en-US" dirty="0"/>
              <a:t>외부에서 값을 넘겨받음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void main()</a:t>
            </a:r>
          </a:p>
          <a:p>
            <a:r>
              <a:rPr lang="en-US" altLang="ko-KR" dirty="0"/>
              <a:t>{</a:t>
            </a:r>
          </a:p>
          <a:p>
            <a:r>
              <a:rPr lang="fr-FR" altLang="ko-KR" dirty="0"/>
              <a:t>    gl_Position = vec4(gScale * Position.x, gScale * Position.y, Position.z, 1.0);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160738" y="2692524"/>
            <a:ext cx="7967711" cy="232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574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외부 입력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2000" dirty="0"/>
              <a:t>void </a:t>
            </a:r>
            <a:r>
              <a:rPr lang="en-US" altLang="ko-KR" sz="2000" dirty="0" err="1"/>
              <a:t>glUniform</a:t>
            </a:r>
            <a:r>
              <a:rPr lang="en-US" altLang="ko-KR" sz="2000" dirty="0"/>
              <a:t>{1234}{</a:t>
            </a:r>
            <a:r>
              <a:rPr lang="en-US" altLang="ko-KR" sz="2000" dirty="0" err="1"/>
              <a:t>fdi</a:t>
            </a:r>
            <a:r>
              <a:rPr lang="en-US" altLang="ko-KR" sz="2000" dirty="0"/>
              <a:t> </a:t>
            </a:r>
            <a:r>
              <a:rPr lang="en-US" altLang="ko-KR" sz="2000" dirty="0" err="1"/>
              <a:t>ui</a:t>
            </a:r>
            <a:r>
              <a:rPr lang="en-US" altLang="ko-KR" sz="2000" dirty="0"/>
              <a:t>}(</a:t>
            </a:r>
            <a:r>
              <a:rPr lang="en-US" altLang="ko-KR" sz="2000" dirty="0" err="1"/>
              <a:t>GLint</a:t>
            </a:r>
            <a:r>
              <a:rPr lang="en-US" altLang="ko-KR" sz="2000" dirty="0"/>
              <a:t> location, TYPE value); </a:t>
            </a:r>
          </a:p>
          <a:p>
            <a:endParaRPr lang="en-US" altLang="ko-KR" sz="2000" dirty="0"/>
          </a:p>
          <a:p>
            <a:r>
              <a:rPr lang="en-US" altLang="ko-KR" sz="2000" dirty="0"/>
              <a:t>void </a:t>
            </a:r>
            <a:r>
              <a:rPr lang="en-US" altLang="ko-KR" sz="2000" dirty="0" err="1"/>
              <a:t>glUniform</a:t>
            </a:r>
            <a:r>
              <a:rPr lang="en-US" altLang="ko-KR" sz="2000" dirty="0"/>
              <a:t>{1234}{</a:t>
            </a:r>
            <a:r>
              <a:rPr lang="en-US" altLang="ko-KR" sz="2000" dirty="0" err="1"/>
              <a:t>fdi</a:t>
            </a:r>
            <a:r>
              <a:rPr lang="en-US" altLang="ko-KR" sz="2000" dirty="0"/>
              <a:t> </a:t>
            </a:r>
            <a:r>
              <a:rPr lang="en-US" altLang="ko-KR" sz="2000" dirty="0" err="1"/>
              <a:t>ui</a:t>
            </a:r>
            <a:r>
              <a:rPr lang="en-US" altLang="ko-KR" sz="2000" dirty="0"/>
              <a:t>}v(</a:t>
            </a:r>
            <a:r>
              <a:rPr lang="en-US" altLang="ko-KR" sz="2000" dirty="0" err="1"/>
              <a:t>GLint</a:t>
            </a:r>
            <a:r>
              <a:rPr lang="en-US" altLang="ko-KR" sz="2000" dirty="0"/>
              <a:t> location, </a:t>
            </a:r>
            <a:r>
              <a:rPr lang="en-US" altLang="ko-KR" sz="2000" dirty="0" err="1"/>
              <a:t>GLsizei</a:t>
            </a:r>
            <a:r>
              <a:rPr lang="en-US" altLang="ko-KR" sz="2000" dirty="0"/>
              <a:t> count, </a:t>
            </a:r>
            <a:r>
              <a:rPr lang="en-US" altLang="ko-KR" sz="2000" dirty="0" err="1"/>
              <a:t>const</a:t>
            </a:r>
            <a:r>
              <a:rPr lang="en-US" altLang="ko-KR" sz="2000" dirty="0"/>
              <a:t> TYPE * values); </a:t>
            </a:r>
          </a:p>
          <a:p>
            <a:endParaRPr lang="en-US" altLang="ko-KR" sz="2000" dirty="0"/>
          </a:p>
          <a:p>
            <a:r>
              <a:rPr lang="en-US" altLang="ko-KR" sz="2000" dirty="0"/>
              <a:t>void </a:t>
            </a:r>
            <a:r>
              <a:rPr lang="en-US" altLang="ko-KR" sz="2000" dirty="0" err="1"/>
              <a:t>glUniformMatrix</a:t>
            </a:r>
            <a:r>
              <a:rPr lang="en-US" altLang="ko-KR" sz="2000" dirty="0"/>
              <a:t>{234}{</a:t>
            </a:r>
            <a:r>
              <a:rPr lang="en-US" altLang="ko-KR" sz="2000" dirty="0" err="1"/>
              <a:t>fd</a:t>
            </a:r>
            <a:r>
              <a:rPr lang="en-US" altLang="ko-KR" sz="2000" dirty="0"/>
              <a:t>}v(</a:t>
            </a:r>
            <a:r>
              <a:rPr lang="en-US" altLang="ko-KR" sz="2000" dirty="0" err="1"/>
              <a:t>GLint</a:t>
            </a:r>
            <a:r>
              <a:rPr lang="en-US" altLang="ko-KR" sz="2000" dirty="0"/>
              <a:t> location, </a:t>
            </a:r>
            <a:r>
              <a:rPr lang="en-US" altLang="ko-KR" sz="2000" dirty="0" err="1"/>
              <a:t>GLsizei</a:t>
            </a:r>
            <a:r>
              <a:rPr lang="en-US" altLang="ko-KR" sz="2000" dirty="0"/>
              <a:t> count, </a:t>
            </a:r>
            <a:r>
              <a:rPr lang="en-US" altLang="ko-KR" sz="2000" dirty="0" err="1"/>
              <a:t>GLboolean</a:t>
            </a:r>
            <a:r>
              <a:rPr lang="en-US" altLang="ko-KR" sz="2000" dirty="0"/>
              <a:t> transpose, </a:t>
            </a:r>
            <a:r>
              <a:rPr lang="en-US" altLang="ko-KR" sz="2000" dirty="0" err="1"/>
              <a:t>const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GLfloat</a:t>
            </a:r>
            <a:r>
              <a:rPr lang="en-US" altLang="ko-KR" sz="2000" dirty="0"/>
              <a:t> * values); </a:t>
            </a:r>
          </a:p>
          <a:p>
            <a:endParaRPr lang="en-US" altLang="ko-KR" sz="2000" dirty="0"/>
          </a:p>
          <a:p>
            <a:r>
              <a:rPr lang="en-US" altLang="ko-KR" sz="2000" dirty="0"/>
              <a:t>void </a:t>
            </a:r>
            <a:r>
              <a:rPr lang="en-US" altLang="ko-KR" sz="2000" dirty="0" err="1"/>
              <a:t>glUniformMatrix</a:t>
            </a:r>
            <a:r>
              <a:rPr lang="en-US" altLang="ko-KR" sz="2000" dirty="0"/>
              <a:t>{2x3,2x4,3x2,3x4,4x2,4x3}{</a:t>
            </a:r>
            <a:r>
              <a:rPr lang="en-US" altLang="ko-KR" sz="2000" dirty="0" err="1"/>
              <a:t>fd</a:t>
            </a:r>
            <a:r>
              <a:rPr lang="en-US" altLang="ko-KR" sz="2000" dirty="0"/>
              <a:t>}v( </a:t>
            </a:r>
            <a:r>
              <a:rPr lang="en-US" altLang="ko-KR" sz="2000" dirty="0" err="1"/>
              <a:t>GLint</a:t>
            </a:r>
            <a:r>
              <a:rPr lang="en-US" altLang="ko-KR" sz="2000" dirty="0"/>
              <a:t> location, </a:t>
            </a:r>
            <a:r>
              <a:rPr lang="en-US" altLang="ko-KR" sz="2000" dirty="0" err="1"/>
              <a:t>GLsizei</a:t>
            </a:r>
            <a:r>
              <a:rPr lang="en-US" altLang="ko-KR" sz="2000" dirty="0"/>
              <a:t> count, </a:t>
            </a:r>
            <a:r>
              <a:rPr lang="en-US" altLang="ko-KR" sz="2000" dirty="0" err="1"/>
              <a:t>GLboolean</a:t>
            </a:r>
            <a:r>
              <a:rPr lang="en-US" altLang="ko-KR" sz="2000" dirty="0"/>
              <a:t> transpose, </a:t>
            </a:r>
            <a:r>
              <a:rPr lang="en-US" altLang="ko-KR" sz="2000" dirty="0" err="1"/>
              <a:t>const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GLfloat</a:t>
            </a:r>
            <a:r>
              <a:rPr lang="en-US" altLang="ko-KR" sz="2000" dirty="0"/>
              <a:t> * values);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75898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외부 입력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 err="1"/>
              <a:t>GLint</a:t>
            </a:r>
            <a:r>
              <a:rPr lang="en-US" altLang="ko-KR" sz="2400" dirty="0"/>
              <a:t> id = </a:t>
            </a:r>
            <a:r>
              <a:rPr lang="en-US" altLang="ko-KR" sz="2400" dirty="0" err="1"/>
              <a:t>glGetUniformLocation</a:t>
            </a:r>
            <a:r>
              <a:rPr lang="en-US" altLang="ko-KR" sz="2400" dirty="0"/>
              <a:t>(program, “</a:t>
            </a:r>
            <a:r>
              <a:rPr lang="en-US" altLang="ko-KR" sz="2400" dirty="0" err="1"/>
              <a:t>gScale</a:t>
            </a:r>
            <a:r>
              <a:rPr lang="en-US" altLang="ko-KR" sz="2400" dirty="0"/>
              <a:t>”);</a:t>
            </a:r>
          </a:p>
          <a:p>
            <a:r>
              <a:rPr lang="en-US" altLang="ko-KR" sz="2400" dirty="0"/>
              <a:t>glUniform1f(id, 0.5f);</a:t>
            </a:r>
          </a:p>
          <a:p>
            <a:endParaRPr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>
            <a:off x="2112143" y="2116658"/>
            <a:ext cx="82809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layout (location = 0) in vec3 Position;</a:t>
            </a:r>
          </a:p>
          <a:p>
            <a:endParaRPr lang="ko-KR" altLang="en-US" dirty="0"/>
          </a:p>
          <a:p>
            <a:r>
              <a:rPr lang="en-US" altLang="ko-KR" dirty="0"/>
              <a:t>uniform float </a:t>
            </a:r>
            <a:r>
              <a:rPr lang="en-US" altLang="ko-KR" dirty="0" err="1"/>
              <a:t>gScale</a:t>
            </a:r>
            <a:r>
              <a:rPr lang="en-US" altLang="ko-KR" dirty="0"/>
              <a:t>; //</a:t>
            </a:r>
            <a:r>
              <a:rPr lang="ko-KR" altLang="en-US" dirty="0"/>
              <a:t>외부에서 값을 넘겨받음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void main()</a:t>
            </a:r>
          </a:p>
          <a:p>
            <a:r>
              <a:rPr lang="en-US" altLang="ko-KR" dirty="0"/>
              <a:t>{</a:t>
            </a:r>
          </a:p>
          <a:p>
            <a:r>
              <a:rPr lang="fr-FR" altLang="ko-KR" dirty="0"/>
              <a:t>    gl_Position = vec4(gScale * Position.x, gScale * Position.y, Position.z, 1.0);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112144" y="2116658"/>
            <a:ext cx="7967711" cy="232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805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컴파일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218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컴파일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631504" y="2085297"/>
            <a:ext cx="8928991" cy="3744416"/>
            <a:chOff x="107504" y="1502618"/>
            <a:chExt cx="8928991" cy="3744416"/>
          </a:xfrm>
        </p:grpSpPr>
        <p:sp>
          <p:nvSpPr>
            <p:cNvPr id="8" name="직사각형 7"/>
            <p:cNvSpPr/>
            <p:nvPr/>
          </p:nvSpPr>
          <p:spPr>
            <a:xfrm>
              <a:off x="107504" y="1502618"/>
              <a:ext cx="8928991" cy="37444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61361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Vertex Shader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123728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878485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652120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7380312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Fragment Shader</a:t>
              </a:r>
              <a:endParaRPr lang="ko-KR" altLang="en-US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07504" y="1502618"/>
              <a:ext cx="8928991" cy="53114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Shader Program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179716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7392145" y="2236339"/>
            <a:ext cx="3218707" cy="1877707"/>
            <a:chOff x="107504" y="1502618"/>
            <a:chExt cx="8928991" cy="3744416"/>
          </a:xfrm>
        </p:grpSpPr>
        <p:sp>
          <p:nvSpPr>
            <p:cNvPr id="26" name="직사각형 25"/>
            <p:cNvSpPr/>
            <p:nvPr/>
          </p:nvSpPr>
          <p:spPr>
            <a:xfrm>
              <a:off x="107504" y="1502618"/>
              <a:ext cx="8928991" cy="37444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700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61361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Vertex Shader</a:t>
              </a:r>
              <a:endParaRPr lang="ko-KR" altLang="en-US" sz="700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123728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…</a:t>
              </a:r>
              <a:endParaRPr lang="ko-KR" altLang="en-US" sz="700" dirty="0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878485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…</a:t>
              </a:r>
              <a:endParaRPr lang="ko-KR" altLang="en-US" sz="700" dirty="0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652120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…</a:t>
              </a:r>
              <a:endParaRPr lang="ko-KR" altLang="en-US" sz="70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7380312" y="2393801"/>
              <a:ext cx="1387028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Fragment Shader</a:t>
              </a:r>
              <a:endParaRPr lang="ko-KR" altLang="en-US" sz="700" dirty="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7504" y="1502618"/>
              <a:ext cx="8928991" cy="53114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Shader Program</a:t>
              </a:r>
              <a:endParaRPr lang="ko-KR" altLang="en-US" sz="1000" dirty="0"/>
            </a:p>
          </p:txBody>
        </p:sp>
      </p:grpSp>
      <p:sp>
        <p:nvSpPr>
          <p:cNvPr id="16" name="직사각형 15"/>
          <p:cNvSpPr/>
          <p:nvPr/>
        </p:nvSpPr>
        <p:spPr>
          <a:xfrm>
            <a:off x="1775520" y="2858928"/>
            <a:ext cx="5544616" cy="3738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컴파일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520" y="2858927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1. Shader Object </a:t>
            </a:r>
            <a:r>
              <a:rPr lang="ko-KR" altLang="en-US" dirty="0">
                <a:solidFill>
                  <a:schemeClr val="bg1"/>
                </a:solidFill>
              </a:rPr>
              <a:t>생성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063552" y="3228259"/>
            <a:ext cx="5868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GLuint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ShaderObj</a:t>
            </a:r>
            <a:r>
              <a:rPr lang="en-US" altLang="ko-KR" dirty="0">
                <a:solidFill>
                  <a:schemeClr val="bg1"/>
                </a:solidFill>
              </a:rPr>
              <a:t> = </a:t>
            </a:r>
            <a:r>
              <a:rPr lang="en-US" altLang="ko-KR" dirty="0" err="1">
                <a:solidFill>
                  <a:schemeClr val="bg1"/>
                </a:solidFill>
              </a:rPr>
              <a:t>glCreateShader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ShaderType</a:t>
            </a:r>
            <a:r>
              <a:rPr lang="en-US" altLang="ko-KR" dirty="0">
                <a:solidFill>
                  <a:schemeClr val="bg1"/>
                </a:solidFill>
              </a:rPr>
              <a:t>);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096000" y="126876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#define GL_FRAGMENT_SHADER</a:t>
            </a:r>
          </a:p>
          <a:p>
            <a:r>
              <a:rPr lang="en-US" altLang="ko-KR" dirty="0"/>
              <a:t>#define GL_VERTEX_SHADER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75520" y="392938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2. Object </a:t>
            </a:r>
            <a:r>
              <a:rPr lang="ko-KR" altLang="en-US" dirty="0">
                <a:solidFill>
                  <a:schemeClr val="bg1"/>
                </a:solidFill>
              </a:rPr>
              <a:t>에 </a:t>
            </a:r>
            <a:r>
              <a:rPr lang="en-US" altLang="ko-KR" dirty="0">
                <a:solidFill>
                  <a:schemeClr val="bg1"/>
                </a:solidFill>
              </a:rPr>
              <a:t>Source </a:t>
            </a:r>
            <a:r>
              <a:rPr lang="ko-KR" altLang="en-US" dirty="0">
                <a:solidFill>
                  <a:schemeClr val="bg1"/>
                </a:solidFill>
              </a:rPr>
              <a:t>할당 및 컴파일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063552" y="4298713"/>
            <a:ext cx="5868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glShaderSource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ShaderObj</a:t>
            </a:r>
            <a:r>
              <a:rPr lang="en-US" altLang="ko-KR" dirty="0">
                <a:solidFill>
                  <a:schemeClr val="bg1"/>
                </a:solidFill>
              </a:rPr>
              <a:t>, 1, p, Lengths);</a:t>
            </a:r>
          </a:p>
          <a:p>
            <a:r>
              <a:rPr lang="en-US" altLang="ko-KR" dirty="0" err="1">
                <a:solidFill>
                  <a:schemeClr val="bg1"/>
                </a:solidFill>
              </a:rPr>
              <a:t>glCompileShader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ShaderObj</a:t>
            </a:r>
            <a:r>
              <a:rPr lang="en-US" altLang="ko-KR" dirty="0">
                <a:solidFill>
                  <a:schemeClr val="bg1"/>
                </a:solidFill>
              </a:rPr>
              <a:t>);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63552" y="6084748"/>
            <a:ext cx="6408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glAttachShader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ShaderProgram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ShaderObj</a:t>
            </a:r>
            <a:r>
              <a:rPr lang="en-US" altLang="ko-KR" dirty="0">
                <a:solidFill>
                  <a:schemeClr val="bg1"/>
                </a:solidFill>
              </a:rPr>
              <a:t>);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75520" y="18995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 Shader Program </a:t>
            </a:r>
            <a:r>
              <a:rPr lang="ko-KR" altLang="en-US" dirty="0"/>
              <a:t>생성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063552" y="2268860"/>
            <a:ext cx="5868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GLuint</a:t>
            </a:r>
            <a:r>
              <a:rPr lang="en-US" altLang="ko-KR" dirty="0"/>
              <a:t> </a:t>
            </a:r>
            <a:r>
              <a:rPr lang="en-US" altLang="ko-KR" dirty="0" err="1"/>
              <a:t>ShaderProgram</a:t>
            </a:r>
            <a:r>
              <a:rPr lang="en-US" altLang="ko-KR" dirty="0"/>
              <a:t> = </a:t>
            </a:r>
            <a:r>
              <a:rPr lang="en-US" altLang="ko-KR" dirty="0" err="1"/>
              <a:t>glCreateProgram</a:t>
            </a:r>
            <a:r>
              <a:rPr lang="en-US" altLang="ko-KR" dirty="0"/>
              <a:t>();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795761" y="5715416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3. Shader Program </a:t>
            </a:r>
            <a:r>
              <a:rPr lang="ko-KR" altLang="en-US" dirty="0">
                <a:solidFill>
                  <a:schemeClr val="bg1"/>
                </a:solidFill>
              </a:rPr>
              <a:t>에 </a:t>
            </a:r>
            <a:r>
              <a:rPr lang="en-US" altLang="ko-KR" dirty="0">
                <a:solidFill>
                  <a:schemeClr val="bg1"/>
                </a:solidFill>
              </a:rPr>
              <a:t>Attach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75520" y="5069085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3. </a:t>
            </a:r>
            <a:r>
              <a:rPr lang="ko-KR" altLang="en-US" dirty="0">
                <a:solidFill>
                  <a:schemeClr val="bg1"/>
                </a:solidFill>
              </a:rPr>
              <a:t>컴파일 완료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4192" y="5238035"/>
            <a:ext cx="2843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Vertex Shader </a:t>
            </a:r>
            <a:r>
              <a:rPr lang="ko-KR" altLang="en-US" dirty="0"/>
              <a:t>및 </a:t>
            </a:r>
            <a:r>
              <a:rPr lang="en-US" altLang="ko-KR" dirty="0"/>
              <a:t>Fragment Shader Object </a:t>
            </a:r>
            <a:r>
              <a:rPr lang="ko-KR" altLang="en-US" dirty="0"/>
              <a:t>를 각각 생성 후 </a:t>
            </a:r>
            <a:r>
              <a:rPr lang="en-US" altLang="ko-KR" dirty="0"/>
              <a:t>Attach </a:t>
            </a:r>
            <a:r>
              <a:rPr lang="ko-KR" altLang="en-US" dirty="0"/>
              <a:t>함</a:t>
            </a:r>
          </a:p>
        </p:txBody>
      </p:sp>
      <p:cxnSp>
        <p:nvCxnSpPr>
          <p:cNvPr id="15" name="직선 화살표 연결선 14"/>
          <p:cNvCxnSpPr>
            <a:stCxn id="16" idx="3"/>
          </p:cNvCxnSpPr>
          <p:nvPr/>
        </p:nvCxnSpPr>
        <p:spPr>
          <a:xfrm flipV="1">
            <a:off x="7320136" y="3947080"/>
            <a:ext cx="413514" cy="78106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6" idx="3"/>
            <a:endCxn id="31" idx="2"/>
          </p:cNvCxnSpPr>
          <p:nvPr/>
        </p:nvCxnSpPr>
        <p:spPr>
          <a:xfrm flipV="1">
            <a:off x="7320136" y="3947080"/>
            <a:ext cx="2943694" cy="781061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4300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Shader </a:t>
            </a:r>
            <a:r>
              <a:rPr lang="ko-KR" altLang="en-US" dirty="0"/>
              <a:t>컴파일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Attach </a:t>
            </a:r>
            <a:r>
              <a:rPr lang="ko-KR" altLang="en-US" dirty="0"/>
              <a:t>완료 후 링크 수행</a:t>
            </a:r>
            <a:endParaRPr lang="en-US" altLang="ko-KR" dirty="0"/>
          </a:p>
          <a:p>
            <a:pPr lvl="1"/>
            <a:r>
              <a:rPr lang="en-US" altLang="ko-KR" dirty="0" err="1"/>
              <a:t>glLinkProgram</a:t>
            </a:r>
            <a:r>
              <a:rPr lang="en-US" altLang="ko-KR" dirty="0"/>
              <a:t>(</a:t>
            </a:r>
            <a:r>
              <a:rPr lang="en-US" altLang="ko-KR" dirty="0" err="1"/>
              <a:t>ShaderProgram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ko-KR" altLang="en-US" dirty="0"/>
              <a:t>링크 완료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성공적으로 링크가 끝났으면 사용 준비 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사용시 아래 아래 함수를 사전에 불러줘야 해당 </a:t>
            </a:r>
            <a:r>
              <a:rPr lang="en-US" altLang="ko-KR" dirty="0" err="1"/>
              <a:t>shader</a:t>
            </a:r>
            <a:r>
              <a:rPr lang="en-US" altLang="ko-KR" dirty="0"/>
              <a:t> </a:t>
            </a:r>
            <a:r>
              <a:rPr lang="ko-KR" altLang="en-US" dirty="0"/>
              <a:t>프로그램이 동작함</a:t>
            </a:r>
            <a:endParaRPr lang="en-US" altLang="ko-KR" dirty="0"/>
          </a:p>
          <a:p>
            <a:pPr lvl="1"/>
            <a:r>
              <a:rPr lang="en-US" altLang="ko-KR" dirty="0" err="1"/>
              <a:t>glUseProgram</a:t>
            </a:r>
            <a:r>
              <a:rPr lang="en-US" altLang="ko-KR" dirty="0"/>
              <a:t>(</a:t>
            </a:r>
            <a:r>
              <a:rPr lang="en-US" altLang="ko-KR" dirty="0" err="1"/>
              <a:t>GLuint</a:t>
            </a:r>
            <a:r>
              <a:rPr lang="en-US" altLang="ko-KR" dirty="0"/>
              <a:t> program);</a:t>
            </a:r>
          </a:p>
        </p:txBody>
      </p:sp>
    </p:spTree>
    <p:extLst>
      <p:ext uri="{BB962C8B-B14F-4D97-AF65-F5344CB8AC3E}">
        <p14:creationId xmlns:p14="http://schemas.microsoft.com/office/powerpoint/2010/main" val="3151081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2414762-3A89-9933-4FEB-5A88C63FA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4C4EB0-E99B-6F68-9C58-4BD6DCB88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930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CE4DA-E1E4-12A3-E422-D269C38DA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A6B6226-8928-EE4C-A672-2A20BAC6AE9C}"/>
              </a:ext>
            </a:extLst>
          </p:cNvPr>
          <p:cNvSpPr/>
          <p:nvPr/>
        </p:nvSpPr>
        <p:spPr>
          <a:xfrm>
            <a:off x="3037491" y="3010090"/>
            <a:ext cx="288032" cy="297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B9A6CF5-8FF6-3540-0A8C-8357253D10EF}"/>
              </a:ext>
            </a:extLst>
          </p:cNvPr>
          <p:cNvCxnSpPr>
            <a:stCxn id="4" idx="3"/>
          </p:cNvCxnSpPr>
          <p:nvPr/>
        </p:nvCxnSpPr>
        <p:spPr>
          <a:xfrm flipV="1">
            <a:off x="3325523" y="3140968"/>
            <a:ext cx="5866821" cy="18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950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C43803-767D-EAA2-A9B4-73B169CF0AA6}"/>
              </a:ext>
            </a:extLst>
          </p:cNvPr>
          <p:cNvSpPr/>
          <p:nvPr/>
        </p:nvSpPr>
        <p:spPr>
          <a:xfrm>
            <a:off x="3037491" y="3010090"/>
            <a:ext cx="288032" cy="297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D96CB9BB-9A05-8F30-4EDB-A28B203F9C2F}"/>
              </a:ext>
            </a:extLst>
          </p:cNvPr>
          <p:cNvSpPr/>
          <p:nvPr/>
        </p:nvSpPr>
        <p:spPr>
          <a:xfrm>
            <a:off x="3181507" y="1380463"/>
            <a:ext cx="6075848" cy="3557114"/>
          </a:xfrm>
          <a:custGeom>
            <a:avLst/>
            <a:gdLst>
              <a:gd name="connsiteX0" fmla="*/ 0 w 6075848"/>
              <a:gd name="connsiteY0" fmla="*/ 1816158 h 3557114"/>
              <a:gd name="connsiteX1" fmla="*/ 1964827 w 6075848"/>
              <a:gd name="connsiteY1" fmla="*/ 47815 h 3557114"/>
              <a:gd name="connsiteX2" fmla="*/ 4103465 w 6075848"/>
              <a:gd name="connsiteY2" fmla="*/ 3516489 h 3557114"/>
              <a:gd name="connsiteX3" fmla="*/ 6075848 w 6075848"/>
              <a:gd name="connsiteY3" fmla="*/ 1634790 h 355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5848" h="3557114">
                <a:moveTo>
                  <a:pt x="0" y="1816158"/>
                </a:moveTo>
                <a:cubicBezTo>
                  <a:pt x="640458" y="790292"/>
                  <a:pt x="1280916" y="-235574"/>
                  <a:pt x="1964827" y="47815"/>
                </a:cubicBezTo>
                <a:cubicBezTo>
                  <a:pt x="2648738" y="331203"/>
                  <a:pt x="3418295" y="3251993"/>
                  <a:pt x="4103465" y="3516489"/>
                </a:cubicBezTo>
                <a:cubicBezTo>
                  <a:pt x="4788635" y="3780985"/>
                  <a:pt x="5432241" y="2707887"/>
                  <a:pt x="6075848" y="16347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488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EA5ED9-CD62-0D30-14EF-E65336C1B812}"/>
              </a:ext>
            </a:extLst>
          </p:cNvPr>
          <p:cNvSpPr/>
          <p:nvPr/>
        </p:nvSpPr>
        <p:spPr>
          <a:xfrm>
            <a:off x="3090580" y="3356992"/>
            <a:ext cx="288032" cy="297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F858588-F060-FBDF-7749-66045E1D2CF2}"/>
              </a:ext>
            </a:extLst>
          </p:cNvPr>
          <p:cNvSpPr/>
          <p:nvPr/>
        </p:nvSpPr>
        <p:spPr>
          <a:xfrm>
            <a:off x="3234596" y="836712"/>
            <a:ext cx="5722807" cy="54726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984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51140-B32D-8220-1EA6-EC25748D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66F263-9927-E0FF-A155-7891F0A96F77}"/>
              </a:ext>
            </a:extLst>
          </p:cNvPr>
          <p:cNvSpPr/>
          <p:nvPr/>
        </p:nvSpPr>
        <p:spPr>
          <a:xfrm>
            <a:off x="3073495" y="3054217"/>
            <a:ext cx="216024" cy="22585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5A6D43-3E72-530A-3DF0-5A920149A0F7}"/>
              </a:ext>
            </a:extLst>
          </p:cNvPr>
          <p:cNvSpPr/>
          <p:nvPr/>
        </p:nvSpPr>
        <p:spPr>
          <a:xfrm>
            <a:off x="4799856" y="2142825"/>
            <a:ext cx="288032" cy="2782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BB7AB5F3-6C07-5340-9CF8-2BA078B4BBE9}"/>
              </a:ext>
            </a:extLst>
          </p:cNvPr>
          <p:cNvSpPr/>
          <p:nvPr/>
        </p:nvSpPr>
        <p:spPr>
          <a:xfrm>
            <a:off x="3181507" y="1380463"/>
            <a:ext cx="6075848" cy="3557114"/>
          </a:xfrm>
          <a:custGeom>
            <a:avLst/>
            <a:gdLst>
              <a:gd name="connsiteX0" fmla="*/ 0 w 6075848"/>
              <a:gd name="connsiteY0" fmla="*/ 1816158 h 3557114"/>
              <a:gd name="connsiteX1" fmla="*/ 1964827 w 6075848"/>
              <a:gd name="connsiteY1" fmla="*/ 47815 h 3557114"/>
              <a:gd name="connsiteX2" fmla="*/ 4103465 w 6075848"/>
              <a:gd name="connsiteY2" fmla="*/ 3516489 h 3557114"/>
              <a:gd name="connsiteX3" fmla="*/ 6075848 w 6075848"/>
              <a:gd name="connsiteY3" fmla="*/ 1634790 h 355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5848" h="3557114">
                <a:moveTo>
                  <a:pt x="0" y="1816158"/>
                </a:moveTo>
                <a:cubicBezTo>
                  <a:pt x="640458" y="790292"/>
                  <a:pt x="1280916" y="-235574"/>
                  <a:pt x="1964827" y="47815"/>
                </a:cubicBezTo>
                <a:cubicBezTo>
                  <a:pt x="2648738" y="331203"/>
                  <a:pt x="3418295" y="3251993"/>
                  <a:pt x="4103465" y="3516489"/>
                </a:cubicBezTo>
                <a:cubicBezTo>
                  <a:pt x="4788635" y="3780985"/>
                  <a:pt x="5432241" y="2707887"/>
                  <a:pt x="6075848" y="16347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B3E3D7-30FF-F25C-ADF6-EB0593F4BEFD}"/>
              </a:ext>
            </a:extLst>
          </p:cNvPr>
          <p:cNvSpPr/>
          <p:nvPr/>
        </p:nvSpPr>
        <p:spPr>
          <a:xfrm>
            <a:off x="4799856" y="1260115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5BD2E6D6-C3B5-C698-7AE6-109CE434EE42}"/>
              </a:ext>
            </a:extLst>
          </p:cNvPr>
          <p:cNvSpPr/>
          <p:nvPr/>
        </p:nvSpPr>
        <p:spPr>
          <a:xfrm>
            <a:off x="3181507" y="2281927"/>
            <a:ext cx="6075848" cy="1770433"/>
          </a:xfrm>
          <a:custGeom>
            <a:avLst/>
            <a:gdLst>
              <a:gd name="connsiteX0" fmla="*/ 0 w 6075848"/>
              <a:gd name="connsiteY0" fmla="*/ 1816158 h 3557114"/>
              <a:gd name="connsiteX1" fmla="*/ 1964827 w 6075848"/>
              <a:gd name="connsiteY1" fmla="*/ 47815 h 3557114"/>
              <a:gd name="connsiteX2" fmla="*/ 4103465 w 6075848"/>
              <a:gd name="connsiteY2" fmla="*/ 3516489 h 3557114"/>
              <a:gd name="connsiteX3" fmla="*/ 6075848 w 6075848"/>
              <a:gd name="connsiteY3" fmla="*/ 1634790 h 355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5848" h="3557114">
                <a:moveTo>
                  <a:pt x="0" y="1816158"/>
                </a:moveTo>
                <a:cubicBezTo>
                  <a:pt x="640458" y="790292"/>
                  <a:pt x="1280916" y="-235574"/>
                  <a:pt x="1964827" y="47815"/>
                </a:cubicBezTo>
                <a:cubicBezTo>
                  <a:pt x="2648738" y="331203"/>
                  <a:pt x="3418295" y="3251993"/>
                  <a:pt x="4103465" y="3516489"/>
                </a:cubicBezTo>
                <a:cubicBezTo>
                  <a:pt x="4788635" y="3780985"/>
                  <a:pt x="5432241" y="2707887"/>
                  <a:pt x="6075848" y="16347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989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486A6D-E1AC-98B7-4AC9-84E819051D4C}"/>
              </a:ext>
            </a:extLst>
          </p:cNvPr>
          <p:cNvSpPr txBox="1"/>
          <p:nvPr/>
        </p:nvSpPr>
        <p:spPr>
          <a:xfrm>
            <a:off x="1343472" y="908720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Lots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Particles!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A056ED-48DB-A943-C753-CDE5F75FCCB8}"/>
              </a:ext>
            </a:extLst>
          </p:cNvPr>
          <p:cNvSpPr/>
          <p:nvPr/>
        </p:nvSpPr>
        <p:spPr>
          <a:xfrm>
            <a:off x="4180865" y="2014200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C0813-8C53-CC2F-2439-68ABFC8FF6F1}"/>
              </a:ext>
            </a:extLst>
          </p:cNvPr>
          <p:cNvSpPr/>
          <p:nvPr/>
        </p:nvSpPr>
        <p:spPr>
          <a:xfrm>
            <a:off x="4494927" y="3022312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29E02F-EA7D-BD2E-5F21-02FCD7226A03}"/>
              </a:ext>
            </a:extLst>
          </p:cNvPr>
          <p:cNvSpPr/>
          <p:nvPr/>
        </p:nvSpPr>
        <p:spPr>
          <a:xfrm>
            <a:off x="5260985" y="2150406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291B83-98AD-58A1-9F00-9A1933866361}"/>
              </a:ext>
            </a:extLst>
          </p:cNvPr>
          <p:cNvSpPr/>
          <p:nvPr/>
        </p:nvSpPr>
        <p:spPr>
          <a:xfrm>
            <a:off x="5543038" y="1489723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1F09C6-F086-05A9-563C-419D12352035}"/>
              </a:ext>
            </a:extLst>
          </p:cNvPr>
          <p:cNvSpPr/>
          <p:nvPr/>
        </p:nvSpPr>
        <p:spPr>
          <a:xfrm>
            <a:off x="5544616" y="3292827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8FFB4E-4DEE-D84E-0408-80E4685B4EAB}"/>
              </a:ext>
            </a:extLst>
          </p:cNvPr>
          <p:cNvSpPr/>
          <p:nvPr/>
        </p:nvSpPr>
        <p:spPr>
          <a:xfrm>
            <a:off x="5981065" y="2518256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EE80D9-6F4D-5EFD-B558-93254C2F8CF0}"/>
              </a:ext>
            </a:extLst>
          </p:cNvPr>
          <p:cNvSpPr/>
          <p:nvPr/>
        </p:nvSpPr>
        <p:spPr>
          <a:xfrm>
            <a:off x="6701145" y="3526368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67B178-1895-BE19-3D1F-380205B6DF3B}"/>
              </a:ext>
            </a:extLst>
          </p:cNvPr>
          <p:cNvSpPr/>
          <p:nvPr/>
        </p:nvSpPr>
        <p:spPr>
          <a:xfrm>
            <a:off x="6773153" y="2423595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40E07B-62B2-B560-A1DF-89D4A81DEBAA}"/>
              </a:ext>
            </a:extLst>
          </p:cNvPr>
          <p:cNvSpPr/>
          <p:nvPr/>
        </p:nvSpPr>
        <p:spPr>
          <a:xfrm>
            <a:off x="3836500" y="3167795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37398-45ED-0F97-555B-75652AB9113C}"/>
              </a:ext>
            </a:extLst>
          </p:cNvPr>
          <p:cNvSpPr/>
          <p:nvPr/>
        </p:nvSpPr>
        <p:spPr>
          <a:xfrm>
            <a:off x="4150562" y="4175907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3E7F71-41F3-325C-49C1-E375D64141E2}"/>
              </a:ext>
            </a:extLst>
          </p:cNvPr>
          <p:cNvSpPr/>
          <p:nvPr/>
        </p:nvSpPr>
        <p:spPr>
          <a:xfrm>
            <a:off x="4916620" y="3304001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2DA16B-56C1-CF88-9793-63C63A71AB43}"/>
              </a:ext>
            </a:extLst>
          </p:cNvPr>
          <p:cNvSpPr/>
          <p:nvPr/>
        </p:nvSpPr>
        <p:spPr>
          <a:xfrm>
            <a:off x="5198673" y="2643318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AA9342-B494-DF3F-BAFD-4A1C69F571F7}"/>
              </a:ext>
            </a:extLst>
          </p:cNvPr>
          <p:cNvSpPr/>
          <p:nvPr/>
        </p:nvSpPr>
        <p:spPr>
          <a:xfrm>
            <a:off x="5200251" y="4446422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63E890-50B2-A806-02BE-01C0D2FDFDDF}"/>
              </a:ext>
            </a:extLst>
          </p:cNvPr>
          <p:cNvSpPr/>
          <p:nvPr/>
        </p:nvSpPr>
        <p:spPr>
          <a:xfrm>
            <a:off x="5636700" y="3671851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1E2B91-CE27-8090-975F-31A16761BD14}"/>
              </a:ext>
            </a:extLst>
          </p:cNvPr>
          <p:cNvSpPr/>
          <p:nvPr/>
        </p:nvSpPr>
        <p:spPr>
          <a:xfrm>
            <a:off x="6356780" y="4679963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4AF06B-E131-2A13-DC58-11C6E1BD3271}"/>
              </a:ext>
            </a:extLst>
          </p:cNvPr>
          <p:cNvSpPr/>
          <p:nvPr/>
        </p:nvSpPr>
        <p:spPr>
          <a:xfrm>
            <a:off x="6428788" y="3577190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7758BD-E7A2-9718-798A-730898D073E7}"/>
              </a:ext>
            </a:extLst>
          </p:cNvPr>
          <p:cNvSpPr/>
          <p:nvPr/>
        </p:nvSpPr>
        <p:spPr>
          <a:xfrm>
            <a:off x="5447928" y="1939485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2AFC01-3DCA-FFD3-7B6C-B645CE9E0A32}"/>
              </a:ext>
            </a:extLst>
          </p:cNvPr>
          <p:cNvSpPr/>
          <p:nvPr/>
        </p:nvSpPr>
        <p:spPr>
          <a:xfrm>
            <a:off x="5761990" y="2947597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94B4CA-BE1F-82CA-7983-D6BD04821C27}"/>
              </a:ext>
            </a:extLst>
          </p:cNvPr>
          <p:cNvSpPr/>
          <p:nvPr/>
        </p:nvSpPr>
        <p:spPr>
          <a:xfrm>
            <a:off x="6528048" y="2075691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F7F457A-D948-F440-B684-A096EA697F80}"/>
              </a:ext>
            </a:extLst>
          </p:cNvPr>
          <p:cNvSpPr/>
          <p:nvPr/>
        </p:nvSpPr>
        <p:spPr>
          <a:xfrm>
            <a:off x="6810101" y="1415008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0DCA8F-5439-495C-8D7F-1792FF5E7106}"/>
              </a:ext>
            </a:extLst>
          </p:cNvPr>
          <p:cNvSpPr/>
          <p:nvPr/>
        </p:nvSpPr>
        <p:spPr>
          <a:xfrm>
            <a:off x="6811679" y="3218112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EADF3A-A371-CD8D-13F0-8196B5C877F5}"/>
              </a:ext>
            </a:extLst>
          </p:cNvPr>
          <p:cNvSpPr/>
          <p:nvPr/>
        </p:nvSpPr>
        <p:spPr>
          <a:xfrm>
            <a:off x="7248128" y="2443541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A58779-64D6-37E7-4918-1293FF803EF8}"/>
              </a:ext>
            </a:extLst>
          </p:cNvPr>
          <p:cNvSpPr/>
          <p:nvPr/>
        </p:nvSpPr>
        <p:spPr>
          <a:xfrm>
            <a:off x="7968208" y="3451653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20C424C-26DE-BF13-5982-59AA4957FC70}"/>
              </a:ext>
            </a:extLst>
          </p:cNvPr>
          <p:cNvSpPr/>
          <p:nvPr/>
        </p:nvSpPr>
        <p:spPr>
          <a:xfrm>
            <a:off x="8040216" y="2348880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AAF5E3F-507C-EAB3-C673-11E310ADF307}"/>
              </a:ext>
            </a:extLst>
          </p:cNvPr>
          <p:cNvSpPr/>
          <p:nvPr/>
        </p:nvSpPr>
        <p:spPr>
          <a:xfrm>
            <a:off x="5007889" y="3649948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79149D-B0B3-5469-96BA-D8B8FD36A3FE}"/>
              </a:ext>
            </a:extLst>
          </p:cNvPr>
          <p:cNvSpPr/>
          <p:nvPr/>
        </p:nvSpPr>
        <p:spPr>
          <a:xfrm>
            <a:off x="5321951" y="4658060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0646BA-31A8-F592-C39C-2749CFA80B5D}"/>
              </a:ext>
            </a:extLst>
          </p:cNvPr>
          <p:cNvSpPr/>
          <p:nvPr/>
        </p:nvSpPr>
        <p:spPr>
          <a:xfrm>
            <a:off x="6088009" y="3786154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26EEB44-88F1-9729-6458-BAFA9526DCAA}"/>
              </a:ext>
            </a:extLst>
          </p:cNvPr>
          <p:cNvSpPr/>
          <p:nvPr/>
        </p:nvSpPr>
        <p:spPr>
          <a:xfrm>
            <a:off x="6370062" y="3125471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F65F14F-4964-4A1B-4F4A-9EE2879F0E90}"/>
              </a:ext>
            </a:extLst>
          </p:cNvPr>
          <p:cNvSpPr/>
          <p:nvPr/>
        </p:nvSpPr>
        <p:spPr>
          <a:xfrm>
            <a:off x="6371640" y="4928575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3899CAC-648D-9BDB-5BA3-8D4D7A8CFAC3}"/>
              </a:ext>
            </a:extLst>
          </p:cNvPr>
          <p:cNvSpPr/>
          <p:nvPr/>
        </p:nvSpPr>
        <p:spPr>
          <a:xfrm>
            <a:off x="6808089" y="4154004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5FB0789-68AF-7154-5EF1-784907A2FA78}"/>
              </a:ext>
            </a:extLst>
          </p:cNvPr>
          <p:cNvSpPr/>
          <p:nvPr/>
        </p:nvSpPr>
        <p:spPr>
          <a:xfrm>
            <a:off x="7528169" y="5162116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859BD2-9987-989A-0231-C6C24E6987C6}"/>
              </a:ext>
            </a:extLst>
          </p:cNvPr>
          <p:cNvSpPr/>
          <p:nvPr/>
        </p:nvSpPr>
        <p:spPr>
          <a:xfrm>
            <a:off x="7600177" y="4059343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FBDEFB-89D3-424C-F07F-FB2AB8EE516A}"/>
              </a:ext>
            </a:extLst>
          </p:cNvPr>
          <p:cNvSpPr/>
          <p:nvPr/>
        </p:nvSpPr>
        <p:spPr>
          <a:xfrm>
            <a:off x="3605936" y="3764251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81A9C6-8114-DDAA-6754-317E5B52073D}"/>
              </a:ext>
            </a:extLst>
          </p:cNvPr>
          <p:cNvSpPr/>
          <p:nvPr/>
        </p:nvSpPr>
        <p:spPr>
          <a:xfrm>
            <a:off x="3919998" y="4772363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64926EC-11AF-FC73-9229-3A183B649E91}"/>
              </a:ext>
            </a:extLst>
          </p:cNvPr>
          <p:cNvSpPr/>
          <p:nvPr/>
        </p:nvSpPr>
        <p:spPr>
          <a:xfrm>
            <a:off x="4686056" y="3900457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FE3475-EFD4-A54C-B0BB-C8938043A155}"/>
              </a:ext>
            </a:extLst>
          </p:cNvPr>
          <p:cNvSpPr/>
          <p:nvPr/>
        </p:nvSpPr>
        <p:spPr>
          <a:xfrm>
            <a:off x="4968109" y="3239774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45CE55D-5699-1D63-33B0-D68251E8FE91}"/>
              </a:ext>
            </a:extLst>
          </p:cNvPr>
          <p:cNvSpPr/>
          <p:nvPr/>
        </p:nvSpPr>
        <p:spPr>
          <a:xfrm>
            <a:off x="4969687" y="5042878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85773B8-A548-4924-83EA-6037800B3A10}"/>
              </a:ext>
            </a:extLst>
          </p:cNvPr>
          <p:cNvSpPr/>
          <p:nvPr/>
        </p:nvSpPr>
        <p:spPr>
          <a:xfrm>
            <a:off x="5406136" y="4268307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7E9D7A4-9A7E-5974-2BF1-1B57CE9FF986}"/>
              </a:ext>
            </a:extLst>
          </p:cNvPr>
          <p:cNvSpPr/>
          <p:nvPr/>
        </p:nvSpPr>
        <p:spPr>
          <a:xfrm>
            <a:off x="6126216" y="5276419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DE85369-4CBA-65A1-7817-9F373F546D51}"/>
              </a:ext>
            </a:extLst>
          </p:cNvPr>
          <p:cNvSpPr/>
          <p:nvPr/>
        </p:nvSpPr>
        <p:spPr>
          <a:xfrm>
            <a:off x="6198224" y="4173646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5B9D79-B488-7AE6-AF5C-6A4F218D3BA1}"/>
              </a:ext>
            </a:extLst>
          </p:cNvPr>
          <p:cNvSpPr txBox="1"/>
          <p:nvPr/>
        </p:nvSpPr>
        <p:spPr>
          <a:xfrm>
            <a:off x="1343472" y="1657895"/>
            <a:ext cx="2045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Random Location</a:t>
            </a:r>
          </a:p>
          <a:p>
            <a:r>
              <a:rPr lang="en-US" altLang="ko-KR" dirty="0"/>
              <a:t>Random Value</a:t>
            </a:r>
          </a:p>
          <a:p>
            <a:r>
              <a:rPr lang="en-US" altLang="ko-KR" dirty="0"/>
              <a:t>Random Color</a:t>
            </a:r>
          </a:p>
          <a:p>
            <a:r>
              <a:rPr lang="en-US" altLang="ko-KR" dirty="0"/>
              <a:t>Random</a:t>
            </a:r>
            <a:r>
              <a:rPr lang="ko-KR" altLang="en-US" dirty="0"/>
              <a:t> </a:t>
            </a:r>
            <a:r>
              <a:rPr lang="en-US" altLang="ko-KR" dirty="0"/>
              <a:t>….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2915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2F3BD4F-D5FF-8F1F-E093-4D6F0F453ADE}"/>
              </a:ext>
            </a:extLst>
          </p:cNvPr>
          <p:cNvSpPr txBox="1"/>
          <p:nvPr/>
        </p:nvSpPr>
        <p:spPr>
          <a:xfrm>
            <a:off x="3215680" y="3573016"/>
            <a:ext cx="609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E06C75"/>
                </a:solidFill>
                <a:effectLst/>
              </a:rPr>
              <a:t>glBlendFunc</a:t>
            </a:r>
            <a:r>
              <a:rPr lang="en-US" altLang="ko-KR" b="0" i="0" dirty="0">
                <a:solidFill>
                  <a:srgbClr val="ABB2BF"/>
                </a:solidFill>
                <a:effectLst/>
                <a:latin typeface="SF Mono"/>
              </a:rPr>
              <a:t>(GL_SRC_ALPHA, GL_ONE_MINUS_SRC_ALPHA);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77595-3200-F96B-CF9B-B1FFA357D7A5}"/>
              </a:ext>
            </a:extLst>
          </p:cNvPr>
          <p:cNvSpPr txBox="1"/>
          <p:nvPr/>
        </p:nvSpPr>
        <p:spPr>
          <a:xfrm>
            <a:off x="3215680" y="3203684"/>
            <a:ext cx="609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E06C75"/>
                </a:solidFill>
                <a:effectLst/>
              </a:rPr>
              <a:t>glEnable</a:t>
            </a:r>
            <a:r>
              <a:rPr lang="en-US" altLang="ko-KR" b="0" i="0" dirty="0">
                <a:solidFill>
                  <a:srgbClr val="ABB2BF"/>
                </a:solidFill>
                <a:effectLst/>
                <a:latin typeface="SF Mono"/>
              </a:rPr>
              <a:t>(GL_BLEND);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0F18C-6DCC-DE05-4BC4-4EC8BDB5EBF0}"/>
              </a:ext>
            </a:extLst>
          </p:cNvPr>
          <p:cNvSpPr txBox="1"/>
          <p:nvPr/>
        </p:nvSpPr>
        <p:spPr>
          <a:xfrm>
            <a:off x="4115780" y="2015262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Enable Alpha Blending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49714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183E-AC41-0BD8-8F38-5FD9335D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C20689C-C245-B91A-E125-EFA8B42D6269}"/>
              </a:ext>
            </a:extLst>
          </p:cNvPr>
          <p:cNvSpPr/>
          <p:nvPr/>
        </p:nvSpPr>
        <p:spPr>
          <a:xfrm>
            <a:off x="3073495" y="3054217"/>
            <a:ext cx="216024" cy="22585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4FED09-9389-9696-783F-E6202BA933CA}"/>
              </a:ext>
            </a:extLst>
          </p:cNvPr>
          <p:cNvSpPr/>
          <p:nvPr/>
        </p:nvSpPr>
        <p:spPr>
          <a:xfrm>
            <a:off x="4799856" y="2142825"/>
            <a:ext cx="288032" cy="2782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A29B528E-666D-AF90-26EB-311D37EFA725}"/>
              </a:ext>
            </a:extLst>
          </p:cNvPr>
          <p:cNvSpPr/>
          <p:nvPr/>
        </p:nvSpPr>
        <p:spPr>
          <a:xfrm>
            <a:off x="3181507" y="1380463"/>
            <a:ext cx="6075848" cy="3557114"/>
          </a:xfrm>
          <a:custGeom>
            <a:avLst/>
            <a:gdLst>
              <a:gd name="connsiteX0" fmla="*/ 0 w 6075848"/>
              <a:gd name="connsiteY0" fmla="*/ 1816158 h 3557114"/>
              <a:gd name="connsiteX1" fmla="*/ 1964827 w 6075848"/>
              <a:gd name="connsiteY1" fmla="*/ 47815 h 3557114"/>
              <a:gd name="connsiteX2" fmla="*/ 4103465 w 6075848"/>
              <a:gd name="connsiteY2" fmla="*/ 3516489 h 3557114"/>
              <a:gd name="connsiteX3" fmla="*/ 6075848 w 6075848"/>
              <a:gd name="connsiteY3" fmla="*/ 1634790 h 355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5848" h="3557114">
                <a:moveTo>
                  <a:pt x="0" y="1816158"/>
                </a:moveTo>
                <a:cubicBezTo>
                  <a:pt x="640458" y="790292"/>
                  <a:pt x="1280916" y="-235574"/>
                  <a:pt x="1964827" y="47815"/>
                </a:cubicBezTo>
                <a:cubicBezTo>
                  <a:pt x="2648738" y="331203"/>
                  <a:pt x="3418295" y="3251993"/>
                  <a:pt x="4103465" y="3516489"/>
                </a:cubicBezTo>
                <a:cubicBezTo>
                  <a:pt x="4788635" y="3780985"/>
                  <a:pt x="5432241" y="2707887"/>
                  <a:pt x="6075848" y="16347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AC722C-638D-5919-3D6C-B162BF21B0B7}"/>
              </a:ext>
            </a:extLst>
          </p:cNvPr>
          <p:cNvSpPr/>
          <p:nvPr/>
        </p:nvSpPr>
        <p:spPr>
          <a:xfrm>
            <a:off x="4799856" y="1260115"/>
            <a:ext cx="288032" cy="273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8A0D1535-35F2-4273-05F6-CA23CB7E5BAA}"/>
              </a:ext>
            </a:extLst>
          </p:cNvPr>
          <p:cNvSpPr/>
          <p:nvPr/>
        </p:nvSpPr>
        <p:spPr>
          <a:xfrm>
            <a:off x="3181507" y="2281927"/>
            <a:ext cx="6075848" cy="1770433"/>
          </a:xfrm>
          <a:custGeom>
            <a:avLst/>
            <a:gdLst>
              <a:gd name="connsiteX0" fmla="*/ 0 w 6075848"/>
              <a:gd name="connsiteY0" fmla="*/ 1816158 h 3557114"/>
              <a:gd name="connsiteX1" fmla="*/ 1964827 w 6075848"/>
              <a:gd name="connsiteY1" fmla="*/ 47815 h 3557114"/>
              <a:gd name="connsiteX2" fmla="*/ 4103465 w 6075848"/>
              <a:gd name="connsiteY2" fmla="*/ 3516489 h 3557114"/>
              <a:gd name="connsiteX3" fmla="*/ 6075848 w 6075848"/>
              <a:gd name="connsiteY3" fmla="*/ 1634790 h 355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5848" h="3557114">
                <a:moveTo>
                  <a:pt x="0" y="1816158"/>
                </a:moveTo>
                <a:cubicBezTo>
                  <a:pt x="640458" y="790292"/>
                  <a:pt x="1280916" y="-235574"/>
                  <a:pt x="1964827" y="47815"/>
                </a:cubicBezTo>
                <a:cubicBezTo>
                  <a:pt x="2648738" y="331203"/>
                  <a:pt x="3418295" y="3251993"/>
                  <a:pt x="4103465" y="3516489"/>
                </a:cubicBezTo>
                <a:cubicBezTo>
                  <a:pt x="4788635" y="3780985"/>
                  <a:pt x="5432241" y="2707887"/>
                  <a:pt x="6075848" y="16347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9B81F-3D48-6A8D-6138-F9F5AEC2FF8E}"/>
              </a:ext>
            </a:extLst>
          </p:cNvPr>
          <p:cNvSpPr txBox="1"/>
          <p:nvPr/>
        </p:nvSpPr>
        <p:spPr>
          <a:xfrm>
            <a:off x="3161355" y="53839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파티클 움직임이 사인 곡선을 따라가도록 함</a:t>
            </a:r>
          </a:p>
        </p:txBody>
      </p:sp>
    </p:spTree>
    <p:extLst>
      <p:ext uri="{BB962C8B-B14F-4D97-AF65-F5344CB8AC3E}">
        <p14:creationId xmlns:p14="http://schemas.microsoft.com/office/powerpoint/2010/main" val="3951778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5773-CD83-0EA5-9119-DE417BE9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69BBFDE-8CB2-90E0-7FC1-90E0203C7553}"/>
              </a:ext>
            </a:extLst>
          </p:cNvPr>
          <p:cNvGrpSpPr/>
          <p:nvPr/>
        </p:nvGrpSpPr>
        <p:grpSpPr>
          <a:xfrm rot="19411949">
            <a:off x="3073495" y="1260115"/>
            <a:ext cx="6183860" cy="3677462"/>
            <a:chOff x="3073495" y="1260115"/>
            <a:chExt cx="6183860" cy="367746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3002D0F-7FF9-5ABB-0AA2-18EE30242511}"/>
                </a:ext>
              </a:extLst>
            </p:cNvPr>
            <p:cNvSpPr/>
            <p:nvPr/>
          </p:nvSpPr>
          <p:spPr>
            <a:xfrm>
              <a:off x="3073495" y="3054217"/>
              <a:ext cx="216024" cy="22585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F61912E-9729-64D0-1119-B2BC56A1788A}"/>
                </a:ext>
              </a:extLst>
            </p:cNvPr>
            <p:cNvSpPr/>
            <p:nvPr/>
          </p:nvSpPr>
          <p:spPr>
            <a:xfrm>
              <a:off x="4799856" y="2142825"/>
              <a:ext cx="288032" cy="2782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14051F5E-C139-98D2-A790-49C247DBA0DB}"/>
                </a:ext>
              </a:extLst>
            </p:cNvPr>
            <p:cNvSpPr/>
            <p:nvPr/>
          </p:nvSpPr>
          <p:spPr>
            <a:xfrm>
              <a:off x="3181507" y="1380463"/>
              <a:ext cx="6075848" cy="3557114"/>
            </a:xfrm>
            <a:custGeom>
              <a:avLst/>
              <a:gdLst>
                <a:gd name="connsiteX0" fmla="*/ 0 w 6075848"/>
                <a:gd name="connsiteY0" fmla="*/ 1816158 h 3557114"/>
                <a:gd name="connsiteX1" fmla="*/ 1964827 w 6075848"/>
                <a:gd name="connsiteY1" fmla="*/ 47815 h 3557114"/>
                <a:gd name="connsiteX2" fmla="*/ 4103465 w 6075848"/>
                <a:gd name="connsiteY2" fmla="*/ 3516489 h 3557114"/>
                <a:gd name="connsiteX3" fmla="*/ 6075848 w 6075848"/>
                <a:gd name="connsiteY3" fmla="*/ 1634790 h 3557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5848" h="3557114">
                  <a:moveTo>
                    <a:pt x="0" y="1816158"/>
                  </a:moveTo>
                  <a:cubicBezTo>
                    <a:pt x="640458" y="790292"/>
                    <a:pt x="1280916" y="-235574"/>
                    <a:pt x="1964827" y="47815"/>
                  </a:cubicBezTo>
                  <a:cubicBezTo>
                    <a:pt x="2648738" y="331203"/>
                    <a:pt x="3418295" y="3251993"/>
                    <a:pt x="4103465" y="3516489"/>
                  </a:cubicBezTo>
                  <a:cubicBezTo>
                    <a:pt x="4788635" y="3780985"/>
                    <a:pt x="5432241" y="2707887"/>
                    <a:pt x="6075848" y="163479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750C9F4-BB19-009B-7B3F-1123577EB030}"/>
                </a:ext>
              </a:extLst>
            </p:cNvPr>
            <p:cNvSpPr/>
            <p:nvPr/>
          </p:nvSpPr>
          <p:spPr>
            <a:xfrm>
              <a:off x="4799856" y="1260115"/>
              <a:ext cx="288032" cy="2731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BB38022A-B4E9-C6EE-2A37-781B514D930F}"/>
                </a:ext>
              </a:extLst>
            </p:cNvPr>
            <p:cNvSpPr/>
            <p:nvPr/>
          </p:nvSpPr>
          <p:spPr>
            <a:xfrm>
              <a:off x="3181507" y="2281927"/>
              <a:ext cx="6075848" cy="1770433"/>
            </a:xfrm>
            <a:custGeom>
              <a:avLst/>
              <a:gdLst>
                <a:gd name="connsiteX0" fmla="*/ 0 w 6075848"/>
                <a:gd name="connsiteY0" fmla="*/ 1816158 h 3557114"/>
                <a:gd name="connsiteX1" fmla="*/ 1964827 w 6075848"/>
                <a:gd name="connsiteY1" fmla="*/ 47815 h 3557114"/>
                <a:gd name="connsiteX2" fmla="*/ 4103465 w 6075848"/>
                <a:gd name="connsiteY2" fmla="*/ 3516489 h 3557114"/>
                <a:gd name="connsiteX3" fmla="*/ 6075848 w 6075848"/>
                <a:gd name="connsiteY3" fmla="*/ 1634790 h 3557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5848" h="3557114">
                  <a:moveTo>
                    <a:pt x="0" y="1816158"/>
                  </a:moveTo>
                  <a:cubicBezTo>
                    <a:pt x="640458" y="790292"/>
                    <a:pt x="1280916" y="-235574"/>
                    <a:pt x="1964827" y="47815"/>
                  </a:cubicBezTo>
                  <a:cubicBezTo>
                    <a:pt x="2648738" y="331203"/>
                    <a:pt x="3418295" y="3251993"/>
                    <a:pt x="4103465" y="3516489"/>
                  </a:cubicBezTo>
                  <a:cubicBezTo>
                    <a:pt x="4788635" y="3780985"/>
                    <a:pt x="5432241" y="2707887"/>
                    <a:pt x="6075848" y="163479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4FDD93-881E-BAC2-3ACE-75D23104E555}"/>
              </a:ext>
            </a:extLst>
          </p:cNvPr>
          <p:cNvSpPr txBox="1"/>
          <p:nvPr/>
        </p:nvSpPr>
        <p:spPr>
          <a:xfrm>
            <a:off x="3161354" y="5383910"/>
            <a:ext cx="71831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파티클 움직임이 </a:t>
            </a:r>
            <a:r>
              <a:rPr lang="ko-KR" altLang="en-US" dirty="0"/>
              <a:t>입력된 방향</a:t>
            </a:r>
            <a:r>
              <a:rPr lang="en-US" altLang="ko-KR" dirty="0"/>
              <a:t>(</a:t>
            </a:r>
            <a:r>
              <a:rPr lang="ko-KR" altLang="en-US" dirty="0"/>
              <a:t>속도</a:t>
            </a:r>
            <a:r>
              <a:rPr lang="en-US" altLang="ko-KR" dirty="0"/>
              <a:t>)</a:t>
            </a:r>
            <a:r>
              <a:rPr lang="ko-KR" altLang="en-US" dirty="0"/>
              <a:t>에 따라 움직이도록 수정</a:t>
            </a:r>
            <a:endParaRPr lang="en-US" altLang="ko-KR" dirty="0"/>
          </a:p>
          <a:p>
            <a:r>
              <a:rPr lang="ko-KR" altLang="en-US" sz="1800" dirty="0"/>
              <a:t>파티클 별로 진동 폭이 다르도록 구현</a:t>
            </a:r>
            <a:endParaRPr lang="en-US" altLang="ko-KR" sz="1800" dirty="0"/>
          </a:p>
          <a:p>
            <a:r>
              <a:rPr lang="ko-KR" altLang="en-US" dirty="0"/>
              <a:t>생성 후 점차 폭이 넓어지도록 구현</a:t>
            </a:r>
            <a:endParaRPr lang="ko-KR" altLang="en-US" sz="1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951F487-363F-8530-FD32-7DBA061ECF04}"/>
              </a:ext>
            </a:extLst>
          </p:cNvPr>
          <p:cNvCxnSpPr>
            <a:stCxn id="6" idx="0"/>
          </p:cNvCxnSpPr>
          <p:nvPr/>
        </p:nvCxnSpPr>
        <p:spPr>
          <a:xfrm flipV="1">
            <a:off x="3817493" y="1196752"/>
            <a:ext cx="4870795" cy="374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33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8A94AA73-5A4B-70BC-7CCF-6ECA95EF2E3B}"/>
              </a:ext>
            </a:extLst>
          </p:cNvPr>
          <p:cNvSpPr/>
          <p:nvPr/>
        </p:nvSpPr>
        <p:spPr>
          <a:xfrm>
            <a:off x="3503712" y="908720"/>
            <a:ext cx="4896544" cy="46805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D37CA-5C0C-F263-02E1-FBB68ECAF2F8}"/>
              </a:ext>
            </a:extLst>
          </p:cNvPr>
          <p:cNvSpPr txBox="1"/>
          <p:nvPr/>
        </p:nvSpPr>
        <p:spPr>
          <a:xfrm>
            <a:off x="3477024" y="60212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원 둘레 상에서 </a:t>
            </a:r>
            <a:r>
              <a:rPr lang="ko-KR" altLang="en-US" sz="1800" dirty="0" err="1"/>
              <a:t>파티클이</a:t>
            </a:r>
            <a:r>
              <a:rPr lang="ko-KR" altLang="en-US" sz="1800" dirty="0"/>
              <a:t> 생성되도록 구현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89138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1C6759F-B717-46DA-B7E7-D6685C1B9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88640"/>
            <a:ext cx="9128931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14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853</TotalTime>
  <Words>1379</Words>
  <Application>Microsoft Office PowerPoint</Application>
  <PresentationFormat>와이드스크린</PresentationFormat>
  <Paragraphs>311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SF Mono</vt:lpstr>
      <vt:lpstr>맑은 고딕</vt:lpstr>
      <vt:lpstr>Arial</vt:lpstr>
      <vt:lpstr>Bookman Old Style</vt:lpstr>
      <vt:lpstr>Rockwell</vt:lpstr>
      <vt:lpstr>Wingdings</vt:lpstr>
      <vt:lpstr>Damask</vt:lpstr>
      <vt:lpstr>셰이더 프로그래밍 Lecture3</vt:lpstr>
      <vt:lpstr>수업에서 다룰 내용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OpenGL Shading Language</vt:lpstr>
      <vt:lpstr>Shader 입출력</vt:lpstr>
      <vt:lpstr>Shader 입출력</vt:lpstr>
      <vt:lpstr>Shader 입출력</vt:lpstr>
      <vt:lpstr>Shader 입출력</vt:lpstr>
      <vt:lpstr>Vertex shader 입력</vt:lpstr>
      <vt:lpstr>Vertex Shader 입력</vt:lpstr>
      <vt:lpstr>Vertex Shader 입력</vt:lpstr>
      <vt:lpstr>Vertex Shader 입력</vt:lpstr>
      <vt:lpstr>Vertex Shader 입력</vt:lpstr>
      <vt:lpstr>shader 외부 입력</vt:lpstr>
      <vt:lpstr>Shader 외부 입력</vt:lpstr>
      <vt:lpstr>Shader 외부 입력</vt:lpstr>
      <vt:lpstr>Shader 외부 입력</vt:lpstr>
      <vt:lpstr>Shader 외부 입력</vt:lpstr>
      <vt:lpstr>Shader 외부 입력</vt:lpstr>
      <vt:lpstr>Shader 외부 입력</vt:lpstr>
      <vt:lpstr>Shader 컴파일</vt:lpstr>
      <vt:lpstr>Shader 컴파일</vt:lpstr>
      <vt:lpstr>Shader 컴파일</vt:lpstr>
      <vt:lpstr>Shader 컴파일</vt:lpstr>
      <vt:lpstr>Test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이택희(A0344)</cp:lastModifiedBy>
  <cp:revision>61</cp:revision>
  <dcterms:created xsi:type="dcterms:W3CDTF">2006-10-05T04:04:58Z</dcterms:created>
  <dcterms:modified xsi:type="dcterms:W3CDTF">2025-09-29T13:33:44Z</dcterms:modified>
</cp:coreProperties>
</file>